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6"/>
    <p:restoredTop sz="89468"/>
  </p:normalViewPr>
  <p:slideViewPr>
    <p:cSldViewPr snapToGrid="0" snapToObjects="1">
      <p:cViewPr>
        <p:scale>
          <a:sx n="143" d="100"/>
          <a:sy n="143" d="100"/>
        </p:scale>
        <p:origin x="18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913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Tx/>
              <a:buChar char="-"/>
            </a:pP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 Screening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7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Averroes Capital  |  Internal Use Only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Tag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(est./act.)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49840" y="13716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11274552" cy="640080"/>
          </a:xfrm>
          <a:prstGeom prst="rect">
            <a:avLst/>
          </a:prstGeom>
          <a:solidFill>
            <a:srgbClr val="F3F4F6"/>
          </a:solidFill>
          <a:ln w="9525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Payments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acquisition — UK SME payments platform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392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£8.6m (actual, 25/26)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287000" y="1956816"/>
            <a:ext cx="1307592" cy="384048"/>
          </a:xfrm>
          <a:prstGeom prst="roundRect">
            <a:avLst>
              <a:gd name="adj" fmla="val 19048"/>
            </a:avLst>
          </a:prstGeom>
          <a:solidFill>
            <a:srgbClr val="FCEFDA"/>
          </a:solidFill>
          <a:ln w="12700">
            <a:solidFill>
              <a:srgbClr val="C87F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87000" y="1956816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7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974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underlying aggregate score. Only company in this batch; no CIMs failed a hard filter.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Blink Payments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0" y="292608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DESCRIPTION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2482"/>
            <a:ext cx="605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2012, originally as Fidelity Payment Processing Limited, rebranded as Blink Payments post-COVID as it expanded beyond pure processing. HQs in London &amp; Manchester, with solely-UK presence. Around 60 FTE</a:t>
            </a:r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co-founders: Ben Weiser (US, prior exit, sold an earlier company also called "Fidelity Payment" in the US) and Ben Cohen (UK, CEO)</a:t>
            </a:r>
          </a:p>
          <a:p>
            <a:pPr marL="127000" indent="-127000">
              <a:spcAft>
                <a:spcPts val="500"/>
              </a:spcAft>
              <a:buSzPct val="100000"/>
              <a:buFontTx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Services: unified payments platform covering Payment APIs (with branded, customized checkout), Blink Pages (on-brand secure payment pages), </a:t>
            </a:r>
            <a:r>
              <a:rPr lang="en-US" sz="830" dirty="0" err="1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Paylinks</a:t>
            </a:r>
            <a:r>
              <a:rPr lang="en-US" sz="830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 (SMS/Email), repeat/recurring payments, delayed capture, card verification &amp; pre-authorization, and multi-rail transaction routing; integrates directly into Xero, QuickBooks and Sage accounting software. </a:t>
            </a: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to allow merchants to focus on running their business, instead of managing payments admin, automating this to the greatest extent</a:t>
            </a:r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Ownership: Ben Cohen, 5000 shares, 47.25%. Ben Weiser, 5000 shares, 47.25%. Ari (Adrian) Eder, 205 shares, 2%. Allocation options 175 shares, 3.5%. </a:t>
            </a:r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model: 75-80% transaction-based, 20-25% recurring platform/SaaS fee</a:t>
            </a:r>
            <a:endParaRPr lang="en-US" sz="83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Go-to-market: around 60% of revenue direct-to-merchant, 40% via ISV software partners, but ISVs now drive over 70% of new customers</a:t>
            </a:r>
            <a:endParaRPr lang="en-US" sz="83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£8.6m, EBITDA £773k (actual, FY25/26). Fits inside Averroes' £8m-£20m sweet spot.</a:t>
            </a:r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events: management team recently strengthened with an experienced CRO and FD, following a self-disclosed period of underinvestment/inertia. Formalised a revenue-share partnership with </a:t>
            </a:r>
            <a:r>
              <a:rPr lang="en-US" sz="83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CashFlows</a:t>
            </a: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service the British Association of Funeral Directors</a:t>
            </a:r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driver: Ben Weiser (NY) wants liquidity, a non-operational director only by virtue of being a co-founder; Ben Cohen (UK CEO) is operationally central and has confirmed he intends to stay long-term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178808"/>
            <a:ext cx="5920451" cy="2377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ICP: UK SMEs in non-card-present, non-ecommerce/non-retail verticals, such as solicitors, insurance and hospitality </a:t>
            </a:r>
          </a:p>
          <a:p>
            <a:pPr marL="127000" indent="-127000">
              <a:spcAft>
                <a:spcPts val="500"/>
              </a:spcAft>
              <a:buSzPct val="100000"/>
              <a:buFontTx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landscape: Blink owns its full stack bar top-layer acquiring, whereas mid-market ISOs (Total Processing, Trust Payments, </a:t>
            </a:r>
            <a:r>
              <a:rPr lang="en-US" sz="83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takepayments</a:t>
            </a: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resell third-party infrastructure; Tier-1 acquirers (Stripe, Worldpay, Square, Global Payments) are enterprise-</a:t>
            </a:r>
            <a:r>
              <a:rPr lang="en-US" sz="83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high-volume, and don't build the vertical-specific features (batch payments, sector workflows) Blink does</a:t>
            </a:r>
          </a:p>
          <a:p>
            <a:pPr marL="127000" indent="-1270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£ TAM disclosed anywhere, bottom-up sizing instead: 64,000 target merchants across 6 named verticals (storage &amp; removals 22.7k; windows &amp; doors 16k; builder &amp; timber 10k; solicitors 8.5k; waste &amp; skip hire 4.2k; funeral directors 2.2k)</a:t>
            </a:r>
            <a:endParaRPr lang="en-US" sz="830" dirty="0"/>
          </a:p>
          <a:p>
            <a:pPr marL="127000" indent="-1270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driver: SME payment fragmentation &amp; slow digitisation (11+ day average invoice payment, manual reconciliation across 3-4 providers)</a:t>
            </a:r>
          </a:p>
          <a:p>
            <a:pPr marL="127000" indent="-1270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Key drivers of growth: ISV partnership expansion (live integrations tracking towards management’s 90-100 near-term target, 120-150 longer term); ARPU growth via paid workflow features; deeper penetration of the 64k-merchant target list; incremental cost-side gains on acquiring rates</a:t>
            </a:r>
            <a:endParaRPr lang="en-US" sz="830" dirty="0"/>
          </a:p>
          <a:p>
            <a:pPr marL="127000" indent="-1270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 per management: fast, human, English-language support; and ISV partnerships that go beyond simple integration — e.g. the revenue-share arrangement with Cash Flows </a:t>
            </a:r>
          </a:p>
          <a:p>
            <a:pPr marL="127000" indent="-1270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is consolidating (e.g. Global Payments/Worldpay acquiring takepayments, per management) but remains fragmented and "archaic" at SME/vertical level; management explicitly not chasing "billion-pound" scale — targeting a defensible, sticky niche instead</a:t>
            </a:r>
            <a:endParaRPr lang="en-US" sz="830" dirty="0"/>
          </a:p>
          <a:p>
            <a:pPr marL="127000" indent="-1270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international expansion story disclosed — UK-focused today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6675120" y="2462914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FINANCIALS</a:t>
            </a:r>
            <a:endParaRPr lang="en-US" sz="1100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5028D8C1-C594-CAF3-906B-332A5774A662}"/>
              </a:ext>
            </a:extLst>
          </p:cNvPr>
          <p:cNvSpPr/>
          <p:nvPr/>
        </p:nvSpPr>
        <p:spPr>
          <a:xfrm>
            <a:off x="6675120" y="1400815"/>
            <a:ext cx="1624584" cy="450073"/>
          </a:xfrm>
          <a:prstGeom prst="roundRect">
            <a:avLst>
              <a:gd name="adj" fmla="val 21053"/>
            </a:avLst>
          </a:prstGeom>
          <a:solidFill>
            <a:srgbClr val="E6F4EC"/>
          </a:solidFill>
          <a:ln w="9525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EC75858A-E523-189E-F435-96C9BB52EB41}"/>
              </a:ext>
            </a:extLst>
          </p:cNvPr>
          <p:cNvSpPr/>
          <p:nvPr/>
        </p:nvSpPr>
        <p:spPr>
          <a:xfrm>
            <a:off x="6741459" y="1400815"/>
            <a:ext cx="1488142" cy="45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Quality </a:t>
            </a:r>
          </a:p>
          <a:p>
            <a:pPr algn="ctr"/>
            <a:r>
              <a:rPr lang="en-US" sz="700" i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stack and ISV lock-in show real differentiation &amp; defensibility</a:t>
            </a:r>
            <a:endParaRPr lang="en-US" sz="700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3ED7EB0C-E2A8-6181-A8AA-27655EA145C8}"/>
              </a:ext>
            </a:extLst>
          </p:cNvPr>
          <p:cNvSpPr/>
          <p:nvPr/>
        </p:nvSpPr>
        <p:spPr>
          <a:xfrm>
            <a:off x="8391144" y="1400815"/>
            <a:ext cx="1624584" cy="453175"/>
          </a:xfrm>
          <a:prstGeom prst="roundRect">
            <a:avLst>
              <a:gd name="adj" fmla="val 21053"/>
            </a:avLst>
          </a:prstGeom>
          <a:solidFill>
            <a:srgbClr val="FCEFDA"/>
          </a:solidFill>
          <a:ln w="9525">
            <a:solidFill>
              <a:srgbClr val="C87F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536CAF99-7E1C-C1C2-3741-D4BCAF762E07}"/>
              </a:ext>
            </a:extLst>
          </p:cNvPr>
          <p:cNvSpPr/>
          <p:nvPr/>
        </p:nvSpPr>
        <p:spPr>
          <a:xfrm>
            <a:off x="8461246" y="1400815"/>
            <a:ext cx="1489577" cy="45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7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</a:t>
            </a:r>
          </a:p>
          <a:p>
            <a:pPr marL="0" indent="0" algn="ctr">
              <a:buNone/>
            </a:pPr>
            <a:r>
              <a:rPr lang="en-US" sz="700" i="1" dirty="0">
                <a:solidFill>
                  <a:srgbClr val="C87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margins and retention, but concentration &amp; churn are undisclosed</a:t>
            </a:r>
            <a:endParaRPr lang="en-US" sz="700" dirty="0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BF9C9E5F-8980-2109-EE5B-BC535BF301B5}"/>
              </a:ext>
            </a:extLst>
          </p:cNvPr>
          <p:cNvSpPr/>
          <p:nvPr/>
        </p:nvSpPr>
        <p:spPr>
          <a:xfrm>
            <a:off x="10107168" y="1400815"/>
            <a:ext cx="1624584" cy="453175"/>
          </a:xfrm>
          <a:prstGeom prst="roundRect">
            <a:avLst>
              <a:gd name="adj" fmla="val 21053"/>
            </a:avLst>
          </a:prstGeom>
          <a:solidFill>
            <a:srgbClr val="FCEFDA"/>
          </a:solidFill>
          <a:ln w="9525">
            <a:solidFill>
              <a:srgbClr val="C87F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B598E702-1181-BE38-BC1B-EFB306FFA814}"/>
              </a:ext>
            </a:extLst>
          </p:cNvPr>
          <p:cNvSpPr/>
          <p:nvPr/>
        </p:nvSpPr>
        <p:spPr>
          <a:xfrm>
            <a:off x="10174940" y="1400815"/>
            <a:ext cx="1488143" cy="45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7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Dynamics</a:t>
            </a:r>
          </a:p>
          <a:p>
            <a:pPr marL="0" indent="0" algn="ctr">
              <a:buNone/>
            </a:pPr>
            <a:r>
              <a:rPr lang="en-US" sz="700" i="1" dirty="0">
                <a:solidFill>
                  <a:srgbClr val="C87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TAM disclosed, and Stripe Connect poses a real competitive threat</a:t>
            </a:r>
            <a:endParaRPr lang="en-US" sz="700" dirty="0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4EACDCB3-0A62-5D2F-100B-E98D41D892D6}"/>
              </a:ext>
            </a:extLst>
          </p:cNvPr>
          <p:cNvSpPr/>
          <p:nvPr/>
        </p:nvSpPr>
        <p:spPr>
          <a:xfrm>
            <a:off x="6675120" y="1925660"/>
            <a:ext cx="1624584" cy="453175"/>
          </a:xfrm>
          <a:prstGeom prst="roundRect">
            <a:avLst>
              <a:gd name="adj" fmla="val 21053"/>
            </a:avLst>
          </a:prstGeom>
          <a:solidFill>
            <a:srgbClr val="E6F4EC"/>
          </a:solidFill>
          <a:ln w="9525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13A75035-2E4B-19BC-F877-8D7ED6857D5F}"/>
              </a:ext>
            </a:extLst>
          </p:cNvPr>
          <p:cNvSpPr/>
          <p:nvPr/>
        </p:nvSpPr>
        <p:spPr>
          <a:xfrm>
            <a:off x="6741459" y="1925660"/>
            <a:ext cx="1488142" cy="45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</a:t>
            </a:r>
          </a:p>
          <a:p>
            <a:pPr marL="0" indent="0" algn="ctr">
              <a:buNone/>
            </a:pPr>
            <a:r>
              <a:rPr lang="en-US" sz="700" i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committed long-term, co-founder exit will not impact operations</a:t>
            </a:r>
            <a:endParaRPr lang="en-US" sz="700" dirty="0"/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6AE7087E-F485-597F-9BE0-703901C2A871}"/>
              </a:ext>
            </a:extLst>
          </p:cNvPr>
          <p:cNvSpPr/>
          <p:nvPr/>
        </p:nvSpPr>
        <p:spPr>
          <a:xfrm>
            <a:off x="8391144" y="1925660"/>
            <a:ext cx="1624584" cy="453175"/>
          </a:xfrm>
          <a:prstGeom prst="roundRect">
            <a:avLst>
              <a:gd name="adj" fmla="val 21053"/>
            </a:avLst>
          </a:prstGeom>
          <a:solidFill>
            <a:srgbClr val="E6F4EC"/>
          </a:solidFill>
          <a:ln w="9525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F5C4949E-DA41-F6FD-4543-082C39B39FFB}"/>
              </a:ext>
            </a:extLst>
          </p:cNvPr>
          <p:cNvSpPr/>
          <p:nvPr/>
        </p:nvSpPr>
        <p:spPr>
          <a:xfrm>
            <a:off x="8461246" y="1925660"/>
            <a:ext cx="1489577" cy="45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Structuring</a:t>
            </a:r>
          </a:p>
          <a:p>
            <a:pPr marL="0" indent="0" algn="ctr">
              <a:buNone/>
            </a:pPr>
            <a:r>
              <a:rPr lang="en-US" sz="700" i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buy-out structure, tight timeline, ticket size fits Averroes range</a:t>
            </a:r>
            <a:endParaRPr lang="en-US" sz="700" dirty="0"/>
          </a:p>
        </p:txBody>
      </p:sp>
      <p:sp>
        <p:nvSpPr>
          <p:cNvPr id="36" name="Shape 18">
            <a:extLst>
              <a:ext uri="{FF2B5EF4-FFF2-40B4-BE49-F238E27FC236}">
                <a16:creationId xmlns:a16="http://schemas.microsoft.com/office/drawing/2014/main" id="{893380C4-18B7-2BE8-A058-BFC9953B26C3}"/>
              </a:ext>
            </a:extLst>
          </p:cNvPr>
          <p:cNvSpPr/>
          <p:nvPr/>
        </p:nvSpPr>
        <p:spPr>
          <a:xfrm>
            <a:off x="10107168" y="1925660"/>
            <a:ext cx="1624584" cy="453175"/>
          </a:xfrm>
          <a:prstGeom prst="roundRect">
            <a:avLst>
              <a:gd name="adj" fmla="val 21053"/>
            </a:avLst>
          </a:prstGeom>
          <a:solidFill>
            <a:srgbClr val="E6F4EC"/>
          </a:solidFill>
          <a:ln w="9525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D04F8ED2-E357-0026-4DD6-7C5D9DCA4478}"/>
              </a:ext>
            </a:extLst>
          </p:cNvPr>
          <p:cNvSpPr/>
          <p:nvPr/>
        </p:nvSpPr>
        <p:spPr>
          <a:xfrm>
            <a:off x="10174941" y="1925660"/>
            <a:ext cx="1488142" cy="45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Focus</a:t>
            </a:r>
          </a:p>
          <a:p>
            <a:pPr marL="0" indent="0" algn="ctr">
              <a:buNone/>
            </a:pPr>
            <a:r>
              <a:rPr lang="en-US" sz="700" i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fintech/payments-software business; matches Averroes’ mandate </a:t>
            </a:r>
            <a:endParaRPr lang="en-US" sz="7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C80755FE-EFFD-7818-1B22-327CD7EEFBE1}"/>
              </a:ext>
            </a:extLst>
          </p:cNvPr>
          <p:cNvSpPr/>
          <p:nvPr/>
        </p:nvSpPr>
        <p:spPr>
          <a:xfrm>
            <a:off x="6675120" y="1115568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ALIGNMENT WITH AVERROES CRITERIA</a:t>
            </a:r>
            <a:endParaRPr lang="en-US" sz="1100" dirty="0"/>
          </a:p>
        </p:txBody>
      </p:sp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574745"/>
              </p:ext>
            </p:extLst>
          </p:nvPr>
        </p:nvGraphicFramePr>
        <p:xfrm>
          <a:off x="6675120" y="2708789"/>
          <a:ext cx="5241579" cy="3955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7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9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91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91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91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91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91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91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91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0979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30000" marR="30000" marT="10000" marB="10000" anchor="ctr">
                    <a:solidFill>
                      <a:srgbClr val="1B2A4A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sz="750" b="1" i="0" dirty="0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marL="30000" marR="30000" marT="10000" marB="10000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marL="30000" marR="30000" marT="10000" marB="10000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657">
                <a:tc>
                  <a:txBody>
                    <a:bodyPr/>
                    <a:lstStyle/>
                    <a:p>
                      <a:pPr algn="ctr"/>
                      <a:r>
                        <a:rPr sz="720" b="1" i="0" dirty="0">
                          <a:solidFill>
                            <a:srgbClr val="FFFFFF"/>
                          </a:solidFill>
                          <a:latin typeface="Calibri"/>
                        </a:rPr>
                        <a:t>£</a:t>
                      </a:r>
                    </a:p>
                  </a:txBody>
                  <a:tcPr marL="30000" marR="30000" marT="10000" marB="10000" anchor="ctr">
                    <a:lnB w="12700" cmpd="sng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 i="0" dirty="0">
                          <a:solidFill>
                            <a:srgbClr val="FFFFFF"/>
                          </a:solidFill>
                          <a:latin typeface="Calibri"/>
                        </a:rPr>
                        <a:t>21/</a:t>
                      </a:r>
                      <a:r>
                        <a:rPr lang="en-GB" sz="720" b="1" i="0" dirty="0">
                          <a:solidFill>
                            <a:srgbClr val="FFFFFF"/>
                          </a:solidFill>
                          <a:latin typeface="Calibri"/>
                        </a:rPr>
                        <a:t>22</a:t>
                      </a:r>
                      <a:endParaRPr sz="72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B w="12700" cmpd="sng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 i="0">
                          <a:solidFill>
                            <a:srgbClr val="FFFFFF"/>
                          </a:solidFill>
                          <a:latin typeface="Calibri"/>
                        </a:rPr>
                        <a:t>22/23</a:t>
                      </a:r>
                    </a:p>
                  </a:txBody>
                  <a:tcPr marL="30000" marR="30000" marT="10000" marB="10000" anchor="ctr">
                    <a:lnB w="12700" cmpd="sng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 i="0">
                          <a:solidFill>
                            <a:srgbClr val="FFFFFF"/>
                          </a:solidFill>
                          <a:latin typeface="Calibri"/>
                        </a:rPr>
                        <a:t>23/24</a:t>
                      </a:r>
                    </a:p>
                  </a:txBody>
                  <a:tcPr marL="30000" marR="30000" marT="10000" marB="10000" anchor="ctr">
                    <a:lnB w="12700" cmpd="sng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 i="0">
                          <a:solidFill>
                            <a:srgbClr val="FFFFFF"/>
                          </a:solidFill>
                          <a:latin typeface="Calibri"/>
                        </a:rPr>
                        <a:t>24/25</a:t>
                      </a:r>
                    </a:p>
                  </a:txBody>
                  <a:tcPr marL="30000" marR="30000" marT="10000" marB="10000" anchor="ctr">
                    <a:lnB w="12700" cmpd="sng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 i="0" dirty="0">
                          <a:solidFill>
                            <a:srgbClr val="FFFFFF"/>
                          </a:solidFill>
                          <a:latin typeface="Calibri"/>
                        </a:rPr>
                        <a:t>25/26</a:t>
                      </a:r>
                    </a:p>
                  </a:txBody>
                  <a:tcPr marL="30000" marR="30000" marT="10000" marB="10000" anchor="ctr">
                    <a:lnB w="12700" cmpd="sng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 i="0">
                          <a:solidFill>
                            <a:srgbClr val="FFFFFF"/>
                          </a:solidFill>
                          <a:latin typeface="Calibri"/>
                        </a:rPr>
                        <a:t>26/27</a:t>
                      </a:r>
                    </a:p>
                  </a:txBody>
                  <a:tcPr marL="30000" marR="30000" marT="10000" marB="10000" anchor="ctr">
                    <a:lnB w="12700" cmpd="sng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 i="0">
                          <a:solidFill>
                            <a:srgbClr val="FFFFFF"/>
                          </a:solidFill>
                          <a:latin typeface="Calibri"/>
                        </a:rPr>
                        <a:t>27/28</a:t>
                      </a:r>
                    </a:p>
                  </a:txBody>
                  <a:tcPr marL="30000" marR="30000" marT="10000" marB="10000" anchor="ctr">
                    <a:lnB w="12700" cmpd="sng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 i="0">
                          <a:solidFill>
                            <a:srgbClr val="FFFFFF"/>
                          </a:solidFill>
                          <a:latin typeface="Calibri"/>
                        </a:rPr>
                        <a:t>28/29</a:t>
                      </a:r>
                    </a:p>
                  </a:txBody>
                  <a:tcPr marL="30000" marR="30000" marT="10000" marB="10000" anchor="ctr">
                    <a:lnB w="12700" cmpd="sng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 i="0">
                          <a:solidFill>
                            <a:srgbClr val="FFFFFF"/>
                          </a:solidFill>
                          <a:latin typeface="Calibri"/>
                        </a:rPr>
                        <a:t>29/30</a:t>
                      </a:r>
                    </a:p>
                  </a:txBody>
                  <a:tcPr marL="30000" marR="30000" marT="10000" marB="10000" anchor="ctr">
                    <a:lnB w="12700" cmpd="sng">
                      <a:noFill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657"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£6.26m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£7.48m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£8.08m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£8.91m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£8.61m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£9.05m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£10.41m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£13.12m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£17.56m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657"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% Growth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-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+19.6%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+8.0%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+10.3%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-3.4%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+5.2%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+15.0%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+26.0%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+33.9%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635442"/>
                  </a:ext>
                </a:extLst>
              </a:tr>
              <a:tr h="291657"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Cost of Sale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1F2937"/>
                          </a:solidFill>
                          <a:latin typeface="Calibri"/>
                        </a:rPr>
                        <a:t>£1.24m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1F2937"/>
                          </a:solidFill>
                          <a:latin typeface="Calibri"/>
                        </a:rPr>
                        <a:t>£1.15m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£1.13m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£1.22m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£1.39m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£1.48m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£1.63m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1F2937"/>
                          </a:solidFill>
                          <a:latin typeface="Calibri"/>
                        </a:rPr>
                        <a:t>£1.95m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£2.41m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657"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Gross Profit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£5.01m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£6.33m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£6.95m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£7.69m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£7.22m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£7.57m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£8.77m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£11.17m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£15.15m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657"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% Margin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+mn-lt"/>
                        </a:rPr>
                        <a:t>80.1%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84.7%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86.1%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86.3%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83.9%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83.7%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84.3%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85.2%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86.3%</a:t>
                      </a:r>
                      <a:endParaRPr sz="800" b="0" i="1" dirty="0">
                        <a:solidFill>
                          <a:srgbClr val="1F2937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284191"/>
                  </a:ext>
                </a:extLst>
              </a:tr>
              <a:tr h="291657"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Overheads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£4.50m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£5.14m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£5.97m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£6.92m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£6.44m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£6.71m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£7.48m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£8.34m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£8.74m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674098"/>
                  </a:ext>
                </a:extLst>
              </a:tr>
              <a:tr h="291657"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EBITDA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£513k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£1.20m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£980k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£778k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£773k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£865k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£1.30m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£2.83m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1F2937"/>
                          </a:solidFill>
                          <a:latin typeface="Calibri"/>
                        </a:rPr>
                        <a:t>£6.41m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315795"/>
                  </a:ext>
                </a:extLst>
              </a:tr>
              <a:tr h="291657">
                <a:tc>
                  <a:txBody>
                    <a:bodyPr/>
                    <a:lstStyle/>
                    <a:p>
                      <a:pPr algn="ctr"/>
                      <a:r>
                        <a:rPr lang="en-GB"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% </a:t>
                      </a:r>
                      <a:r>
                        <a:rPr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Margin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8.2%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16.0%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12.1%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8.7%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9.0%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9.6%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12.4%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21.6%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1" dirty="0">
                          <a:solidFill>
                            <a:srgbClr val="1F2937"/>
                          </a:solidFill>
                          <a:latin typeface="Calibri"/>
                        </a:rPr>
                        <a:t>36.5%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894559"/>
                  </a:ext>
                </a:extLst>
              </a:tr>
              <a:tr h="291657"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Adjusted EBITDA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£513k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£1.60m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£1.63m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£1.27m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£1.18m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£947k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£1.30m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£2.83m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£6.41m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782790"/>
                  </a:ext>
                </a:extLst>
              </a:tr>
              <a:tr h="291657"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PBT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1F2937"/>
                          </a:solidFill>
                          <a:latin typeface="Calibri"/>
                        </a:rPr>
                        <a:t>£35k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1F2937"/>
                          </a:solidFill>
                          <a:latin typeface="Calibri"/>
                        </a:rPr>
                        <a:t>£712k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1F2937"/>
                          </a:solidFill>
                          <a:latin typeface="Calibri"/>
                        </a:rPr>
                        <a:t>£427k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£75k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£521k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1F2937"/>
                          </a:solidFill>
                          <a:latin typeface="Calibri"/>
                        </a:rPr>
                        <a:t>£807k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1F2937"/>
                          </a:solidFill>
                          <a:latin typeface="Calibri"/>
                        </a:rPr>
                        <a:t>£1.25m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£2.79m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£6.38m</a:t>
                      </a:r>
                    </a:p>
                  </a:txBody>
                  <a:tcPr marL="30000" marR="30000" marT="10000" marB="1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6587"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660" b="0" i="1" dirty="0">
                          <a:solidFill>
                            <a:srgbClr val="9CA3AF"/>
                          </a:solidFill>
                          <a:latin typeface="+mn-lt"/>
                        </a:rPr>
                        <a:t>Note: FY26/27 forecast conflicts across sources — this table (</a:t>
                      </a:r>
                      <a:r>
                        <a:rPr lang="en-GB" sz="660" b="0" i="1" dirty="0" err="1">
                          <a:solidFill>
                            <a:srgbClr val="9CA3AF"/>
                          </a:solidFill>
                          <a:latin typeface="+mn-lt"/>
                        </a:rPr>
                        <a:t>dataroom</a:t>
                      </a:r>
                      <a:r>
                        <a:rPr lang="en-GB" sz="660" b="0" i="1" dirty="0">
                          <a:solidFill>
                            <a:srgbClr val="9CA3AF"/>
                          </a:solidFill>
                          <a:latin typeface="+mn-lt"/>
                        </a:rPr>
                        <a:t> financial model) shows £9.05m revenue / £865k EBITDA for FY26/27; the CIM overview slide and the Aug 7 management call both state £8.8m revenue / £707k EBITDA for the same year. </a:t>
                      </a:r>
                      <a:endParaRPr sz="660" b="0" i="1" dirty="0">
                        <a:solidFill>
                          <a:srgbClr val="9CA3AF"/>
                        </a:solidFill>
                        <a:latin typeface="Calibri"/>
                      </a:endParaRPr>
                    </a:p>
                  </a:txBody>
                  <a:tcPr marL="30000" marR="30000" marT="10000" marB="10000" anchor="ctr">
                    <a:lnT w="12700" cmpd="sng">
                      <a:noFill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Blink Payments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Investment Rationale and Process Dynamics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0" y="292608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5192829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payments stack differentiates Blink from reseller ISOs and enterprise-focused Tier-1 acquirers in non-card-present SME niches</a:t>
            </a:r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Profitable: £773k EBITDA on £8.6m revenue (25/26 actual), 84% gross margin — inside the £8m–£20m sweet spot</a:t>
            </a:r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ISV embedded-channel strategy (~70% of new customers, live integrations tracking toward 90-100 in the next 12 months per management) is a scalable, capital-light distribution moat</a:t>
            </a:r>
            <a:endParaRPr lang="en-US" sz="86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annual logo retention and 110% Y1→Y2 NRR support a credible expansion-revenue story</a:t>
            </a:r>
            <a:endParaRPr lang="en-US" sz="860" dirty="0"/>
          </a:p>
          <a:p>
            <a:pPr marL="152400" indent="-1524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narrative: rebuilt commercial leadership (CRO, FD) after a period of "inertia" (24–26) — now reporting record months/quarters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457200" y="2706624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CREATION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1" y="2889504"/>
            <a:ext cx="5056631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spcAft>
                <a:spcPts val="200"/>
              </a:spcAft>
              <a:buNone/>
            </a:pPr>
            <a:r>
              <a:rPr lang="en-US" sz="86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Optimising</a:t>
            </a:r>
            <a:endParaRPr lang="en-US" sz="860" dirty="0"/>
          </a:p>
          <a:p>
            <a:pPr marL="177800" indent="-177800">
              <a:lnSpc>
                <a:spcPct val="9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ISV partnership expansion</a:t>
            </a:r>
            <a:r>
              <a:rPr lang="en-US" sz="860" b="1" dirty="0"/>
              <a:t> - </a:t>
            </a: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live integrations toward 90-100 near-term (120-150 longer-term), vs. ~30-36 today; deepen wedge strategy (waste management: </a:t>
            </a:r>
            <a:r>
              <a:rPr lang="en-US" sz="86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Wastelogics</a:t>
            </a: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6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Kodawaste</a:t>
            </a: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trade bodies)</a:t>
            </a:r>
            <a:endParaRPr lang="en-US" sz="860" dirty="0"/>
          </a:p>
          <a:p>
            <a:pPr marL="177800" indent="-177800">
              <a:lnSpc>
                <a:spcPct val="9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/ platform-fee growth</a:t>
            </a:r>
            <a:r>
              <a:rPr lang="en-US" sz="860" b="1" dirty="0"/>
              <a:t> - </a:t>
            </a: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+72% platform fee growth; deepen paid workflow features (delayed capture, intelligent re-run, multi-rail, batch payments)</a:t>
            </a:r>
            <a:endParaRPr lang="en-US" sz="860" dirty="0"/>
          </a:p>
          <a:p>
            <a:pPr marL="177800" indent="-177800">
              <a:lnSpc>
                <a:spcPct val="9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penetration &amp; revenue-share replication</a:t>
            </a:r>
            <a:r>
              <a:rPr lang="en-US" sz="860" b="1" dirty="0"/>
              <a:t> - </a:t>
            </a: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64k target merchants across 6 UK verticals, still early in most (funeral 2.2k, waste 4.2k); replicate the Cash Flows revenue-share model with other software vendors</a:t>
            </a:r>
          </a:p>
          <a:p>
            <a:pPr marL="177800" indent="-177800">
              <a:lnSpc>
                <a:spcPct val="9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 </a:t>
            </a:r>
            <a:r>
              <a:rPr lang="en-US" sz="860" b="1" dirty="0"/>
              <a:t>- </a:t>
            </a: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incoming investor could test adjacent English-speaking markets (Ireland)</a:t>
            </a:r>
          </a:p>
          <a:p>
            <a:pPr>
              <a:lnSpc>
                <a:spcPct val="92000"/>
              </a:lnSpc>
              <a:spcAft>
                <a:spcPts val="200"/>
              </a:spcAft>
              <a:buSzPct val="100000"/>
            </a:pPr>
            <a:r>
              <a:rPr lang="en-US" sz="86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Cutting</a:t>
            </a:r>
            <a:endParaRPr lang="en-US" sz="860" dirty="0"/>
          </a:p>
          <a:p>
            <a:pPr marL="177800" indent="-177800">
              <a:lnSpc>
                <a:spcPct val="9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Sales-team redirection</a:t>
            </a:r>
            <a:r>
              <a:rPr lang="en-US" sz="860" b="1" dirty="0"/>
              <a:t> - </a:t>
            </a: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ICP-focused GTM has let management shrink the direct sales team while improving lead quality, lowering CAC</a:t>
            </a:r>
            <a:endParaRPr lang="en-US" sz="860" dirty="0"/>
          </a:p>
          <a:p>
            <a:pPr marL="177800" indent="-177800">
              <a:lnSpc>
                <a:spcPct val="9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Payment-cost renegotiation</a:t>
            </a:r>
            <a:r>
              <a:rPr lang="en-US" sz="860" b="1" dirty="0"/>
              <a:t> - </a:t>
            </a: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cites incremental basis-point improvements on acquiring costs (e.g. with Elavon) feeding straight through to EBITDA margin</a:t>
            </a:r>
            <a:endParaRPr lang="en-US" sz="860" dirty="0"/>
          </a:p>
          <a:p>
            <a:pPr marL="177800" indent="-177800">
              <a:lnSpc>
                <a:spcPct val="92000"/>
              </a:lnSpc>
              <a:spcAft>
                <a:spcPts val="200"/>
              </a:spcAft>
              <a:buSzPct val="100000"/>
              <a:buChar char="•"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Bolt-on M&amp;A </a:t>
            </a:r>
            <a:r>
              <a:rPr lang="en-US" sz="860" b="1" dirty="0"/>
              <a:t>- </a:t>
            </a: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ISVs or regional ISOs could consolidate overlapping infrastructure/support costs faster than organic build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457200" y="5007781"/>
            <a:ext cx="5056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STRUCTURING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199" y="5190661"/>
            <a:ext cx="496182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position post-deal</a:t>
            </a: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Ben Cohen (UK CEO) stays long-term, "charged for growth"; Ben Weiser (NY co-founder) exits — already non-operational</a:t>
            </a:r>
            <a:endParaRPr lang="en-US" sz="860" dirty="0"/>
          </a:p>
          <a:p>
            <a:pPr marL="127000" indent="-1270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Buy-out of Weiser's ~48% stake plus ~£1-2m growth capital; a secondary tranche could follow later</a:t>
            </a:r>
            <a:endParaRPr lang="en-US" sz="860" dirty="0"/>
          </a:p>
          <a:p>
            <a:pPr marL="127000" indent="-1270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Seller wants to move fast — target signing September 2026; a prior unsolicited US-consolidator offer was declined over a 24-month non-compete, not price</a:t>
            </a:r>
            <a:endParaRPr lang="en-US" sz="860" dirty="0"/>
          </a:p>
          <a:p>
            <a:pPr marL="127000" indent="-1270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valuation</a:t>
            </a: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Not firmly quantified — Weiser described as not holding outsized expectations, untethered from the business</a:t>
            </a:r>
          </a:p>
          <a:p>
            <a:pPr marL="127000" indent="-1270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size</a:t>
            </a: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Overall consideration (buy-out + growth capital) expected to fit within Averroes' £5m–£20m range</a:t>
            </a:r>
            <a:endParaRPr lang="en-US" sz="86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204379"/>
              </p:ext>
            </p:extLst>
          </p:nvPr>
        </p:nvGraphicFramePr>
        <p:xfrm>
          <a:off x="5909179" y="1298449"/>
          <a:ext cx="6088089" cy="4203192"/>
        </p:xfrm>
        <a:graphic>
          <a:graphicData uri="http://schemas.openxmlformats.org/drawingml/2006/table">
            <a:tbl>
              <a:tblPr/>
              <a:tblGrid>
                <a:gridCol w="1059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5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4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Mitigant</a:t>
                      </a:r>
                      <a:endParaRPr lang="en-US" sz="7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i="1" dirty="0"/>
                        <a:t>MARKET DYNAMICS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/>
                        <a:t>Major competitors (e.g. Stripe Connect) are already expanding into vertical-specific tooling.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dirty="0"/>
                        <a:t>Insurance is an exception where Stripe's generic model doesn't fit well - a real moat for Blink; elsewhere, tailored workflows, human support and ISV distribution create switching friction. Needs monitoring.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i="1" dirty="0"/>
                        <a:t>MARKET DYNAMICS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dirty="0"/>
                        <a:t>Blink's ISV strategy may only work on partners with no incumbent payment provider.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dirty="0"/>
                        <a:t>Partnerships are highly sticky once secured, and today's targets are undecided, lower-competition ISVs - but the window narrows if larger players enter the same pool. Flagged as a live diligence question.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595638"/>
                  </a:ext>
                </a:extLst>
              </a:tr>
              <a:tr h="253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i="1" dirty="0"/>
                        <a:t>MARKET DYNAMICS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dirty="0"/>
                        <a:t>Some verticals already have entrenched incumbent leaders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dirty="0"/>
                        <a:t>The open verticals (funeral, waste, property) are the more attractive greenfield opportunity; solicitors is the one contested vertical among six named.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626813"/>
                  </a:ext>
                </a:extLst>
              </a:tr>
              <a:tr h="343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i="1" dirty="0"/>
                        <a:t>BUSINESS QUALITY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dirty="0"/>
                        <a:t>Blink's "complete ownership of infrastructure" claim contradicts its disclosed acquiring partners.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dirty="0"/>
                        <a:t>Partial-stack ownership is a genuine differentiator versus pure resellers (mid-market ISOs); read as 'owns more of the stack than competitors,' not literal 100% - worth clarifying with management.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948634"/>
                  </a:ext>
                </a:extLst>
              </a:tr>
              <a:tr h="343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i="1" dirty="0"/>
                        <a:t>BUSINESS QUALITY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dirty="0"/>
                        <a:t>Blink's marketing overstates its pricing/terms advantage over some Tier-1 acquirers.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dirty="0"/>
                        <a:t>The critique holds for high-volume, enterprise-focused acquirers, and doesn't undermine Blink's product depth in tailored verticals. Discount the claim and test it with management.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030417"/>
                  </a:ext>
                </a:extLst>
              </a:tr>
              <a:tr h="253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i="1" dirty="0"/>
                        <a:t>REVENUE QUALITY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dirty="0"/>
                        <a:t>Customer/merchant revenue concentration is undisclosed.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dirty="0"/>
                        <a:t>Structurally diversified - SME-only ICP across 6+ verticals and ~64k target merchants, with no single large-account dependency (inferred, not disclosed).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87121"/>
                  </a:ext>
                </a:extLst>
              </a:tr>
              <a:tr h="434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i="1" dirty="0"/>
                        <a:t>REVENUE QUALITY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dirty="0"/>
                        <a:t>FY26/27 forecast EBITDA is below FY25/26 actual despite revenue growth.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dirty="0"/>
                        <a:t>Possibly an investment year behind the CRO-led GTM reset and ISV scale-up (inferred, not confirmed); gross margin is unaffected, the dip is modest (9.0%→8.0%), and management's multi-year guidance (&gt;£10m FY27/28, ~£13m FY28/29) supports this.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643776"/>
                  </a:ext>
                </a:extLst>
              </a:tr>
              <a:tr h="343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i="1" dirty="0"/>
                        <a:t>MANAGEMENT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dirty="0"/>
                        <a:t>Platform architecture is concentrated in one named CTO, with no succession plan.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dirty="0"/>
                        <a:t>Recently hired CRO and FD bring relevant track records; Weiser's exit carries no execution impact (he was already non-operational).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819480"/>
                  </a:ext>
                </a:extLst>
              </a:tr>
              <a:tr h="253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i="1" dirty="0"/>
                        <a:t>DEAL STRUCTURING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dirty="0"/>
                        <a:t>Indicative valuation for Weiser's stake not yet firmly quantified.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dirty="0"/>
                        <a:t>Weiser is described as holding modest valuation expectations and being 'untethered' from the business, easing price discovery.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i="1" dirty="0"/>
                        <a:t>DEAL STRUCTURING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dirty="0"/>
                        <a:t>A prior unsolicited trade-sale offer shows other buyers are aware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750" dirty="0"/>
                        <a:t>That offer foundered on a 24-month non-compete term, not price - room to structure around it, not a genuine bidding-war risk.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9" name="Text 21">
            <a:extLst>
              <a:ext uri="{FF2B5EF4-FFF2-40B4-BE49-F238E27FC236}">
                <a16:creationId xmlns:a16="http://schemas.microsoft.com/office/drawing/2014/main" id="{F0ACE704-665A-8432-35A3-61E494A343CC}"/>
              </a:ext>
            </a:extLst>
          </p:cNvPr>
          <p:cNvSpPr/>
          <p:nvPr/>
        </p:nvSpPr>
        <p:spPr>
          <a:xfrm>
            <a:off x="5909179" y="1097280"/>
            <a:ext cx="5056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KEY RISKS AND MITIGANTS</a:t>
            </a:r>
            <a:endParaRPr lang="en-US" sz="1100" dirty="0"/>
          </a:p>
        </p:txBody>
      </p:sp>
      <p:sp>
        <p:nvSpPr>
          <p:cNvPr id="10" name="Text 21">
            <a:extLst>
              <a:ext uri="{FF2B5EF4-FFF2-40B4-BE49-F238E27FC236}">
                <a16:creationId xmlns:a16="http://schemas.microsoft.com/office/drawing/2014/main" id="{D05C7322-3ED6-B9CD-B558-FF9EBBC36F9A}"/>
              </a:ext>
            </a:extLst>
          </p:cNvPr>
          <p:cNvSpPr/>
          <p:nvPr/>
        </p:nvSpPr>
        <p:spPr>
          <a:xfrm>
            <a:off x="5909179" y="5559551"/>
            <a:ext cx="6088088" cy="163961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OPTIONS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PLAUSIBLE BUYER EXAMPLES</a:t>
            </a:r>
            <a:endParaRPr lang="en-US" sz="1100" dirty="0"/>
          </a:p>
        </p:txBody>
      </p:sp>
      <p:sp>
        <p:nvSpPr>
          <p:cNvPr id="11" name="Text 22">
            <a:extLst>
              <a:ext uri="{FF2B5EF4-FFF2-40B4-BE49-F238E27FC236}">
                <a16:creationId xmlns:a16="http://schemas.microsoft.com/office/drawing/2014/main" id="{78AFE668-8322-1404-7823-BF19966A44C4}"/>
              </a:ext>
            </a:extLst>
          </p:cNvPr>
          <p:cNvSpPr/>
          <p:nvPr/>
        </p:nvSpPr>
        <p:spPr>
          <a:xfrm>
            <a:off x="5909178" y="5760720"/>
            <a:ext cx="6088089" cy="845820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127000" indent="-1270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types: </a:t>
            </a:r>
          </a:p>
          <a:p>
            <a:pPr marL="171450" indent="-171450">
              <a:lnSpc>
                <a:spcPct val="95000"/>
              </a:lnSpc>
              <a:spcAft>
                <a:spcPts val="300"/>
              </a:spcAft>
              <a:buSzPct val="100000"/>
              <a:buFontTx/>
              <a:buChar char="-"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– platforms buying payments in-house (Mollie, MRI)</a:t>
            </a:r>
          </a:p>
          <a:p>
            <a:pPr marL="171450" indent="-171450">
              <a:lnSpc>
                <a:spcPct val="95000"/>
              </a:lnSpc>
              <a:spcAft>
                <a:spcPts val="300"/>
              </a:spcAft>
              <a:buSzPct val="100000"/>
              <a:buFontTx/>
              <a:buChar char="-"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sponsors – PE add-on buyers (Pollen Street)</a:t>
            </a:r>
          </a:p>
          <a:p>
            <a:pPr marL="127000" indent="-127000">
              <a:lnSpc>
                <a:spcPct val="95000"/>
              </a:lnSpc>
              <a:spcAft>
                <a:spcPts val="300"/>
              </a:spcAft>
              <a:buSzPct val="100000"/>
              <a:buFontTx/>
              <a:buChar char="•"/>
            </a:pPr>
            <a:r>
              <a:rPr lang="en-US" sz="8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closest public comparable, Vertical Software &amp; Integrated Payments, trades at 11.8x/7.7x EV/EBITDA. This is above the Payments sector median (7.3x, 6.5x). </a:t>
            </a:r>
          </a:p>
          <a:p>
            <a:pPr marL="127000" indent="-1270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Mollie, acquiring GoCardless for $1.1bn, explicitly to power ‘SaaS platforms and vertical software vendors’, same as Blink</a:t>
            </a:r>
          </a:p>
          <a:p>
            <a:pPr marL="127000" indent="-1270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Pollen Street Capital (linked to Blink via Pollen-backed Cashflows), targets "specialist financial services and technology businesses with strong market positions”, recent deals include Finastra, </a:t>
            </a:r>
            <a:r>
              <a:rPr lang="en-US" sz="83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Hipoges</a:t>
            </a:r>
            <a:endParaRPr lang="en-US" sz="83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27000" indent="-127000">
              <a:lnSpc>
                <a:spcPct val="95000"/>
              </a:lnSpc>
              <a:spcAft>
                <a:spcPts val="300"/>
              </a:spcAft>
              <a:buSzPct val="100000"/>
              <a:buChar char="•"/>
            </a:pP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Software (acquired </a:t>
            </a:r>
            <a:r>
              <a:rPr lang="en-US" sz="83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RentPayment</a:t>
            </a:r>
            <a:r>
              <a:rPr lang="en-US" sz="8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2026, partnered with GoCardless &amp; Deluxe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Blink Payments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D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 for Diligence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0" y="292608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buFont typeface="+mj-lt"/>
              <a:buAutoNum type="arabicPeriod"/>
            </a:pPr>
            <a:r>
              <a:rPr lang="en-GB" sz="1350" b="1" i="1" dirty="0"/>
              <a:t>Competitive moat risk </a:t>
            </a:r>
            <a:r>
              <a:rPr lang="en-GB" sz="1350" b="1" dirty="0"/>
              <a:t>- </a:t>
            </a:r>
            <a:r>
              <a:rPr lang="en-GB" sz="1350" dirty="0"/>
              <a:t>How defensible is Blink's vertical-specific tooling if Stripe Connect (or a similar generic platform) decided to target the same verticals — beyond insurance, what actually stops a large player from replicating this?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1350" b="1" i="1" dirty="0"/>
              <a:t>Infrastructure ownership claim </a:t>
            </a:r>
            <a:r>
              <a:rPr lang="en-GB" sz="1350" b="1" dirty="0"/>
              <a:t>- </a:t>
            </a:r>
            <a:r>
              <a:rPr lang="en-GB" sz="1350" dirty="0"/>
              <a:t>Given Blink discloses partnerships with GoCardless, Verifone, Elavon, Stripe and Cash Flows for acquiring/rails, what exactly does "complete ownership of infrastructure" mean in practice — which layers does Blink actually own vs. rely on partners for, and how transferable is that on a change of control?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1350" b="1" i="1" dirty="0"/>
              <a:t>Customer concentration </a:t>
            </a:r>
            <a:r>
              <a:rPr lang="en-GB" sz="1350" b="1" dirty="0"/>
              <a:t>- </a:t>
            </a:r>
            <a:r>
              <a:rPr lang="en-GB" sz="1350" dirty="0"/>
              <a:t>What is customer/merchant revenue concentration — any single ISV partner (e.g. Cash Flows) or direct merchant disproportionately large?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1350" b="1" i="1" dirty="0"/>
              <a:t>CTO key-person risk</a:t>
            </a:r>
            <a:r>
              <a:rPr lang="en-GB" sz="1350" b="1" dirty="0"/>
              <a:t> - </a:t>
            </a:r>
            <a:r>
              <a:rPr lang="en-GB" sz="1350" dirty="0"/>
              <a:t>How dependent is the platform on CTO Raphael Katz as sole named architect — is there a succession plan?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1350" b="1" i="1" dirty="0"/>
              <a:t>ISV strategy limits </a:t>
            </a:r>
            <a:r>
              <a:rPr lang="en-GB" sz="1350" b="1" dirty="0"/>
              <a:t>- </a:t>
            </a:r>
            <a:r>
              <a:rPr lang="en-GB" sz="1350" dirty="0"/>
              <a:t>Does Blink's ISV strategy work only on partners without an existing embedded-payments provider (e.g. </a:t>
            </a:r>
            <a:r>
              <a:rPr lang="en-GB" sz="1350" dirty="0" err="1"/>
              <a:t>Wastelogics</a:t>
            </a:r>
            <a:r>
              <a:rPr lang="en-GB" sz="1350" dirty="0"/>
              <a:t>), and is there a credible plan to compete for ISVs that already have an incumbent — or is that segment effectively closed to Blink?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1350" b="1" i="1" dirty="0"/>
              <a:t>EBITDA forecast dip - </a:t>
            </a:r>
            <a:r>
              <a:rPr lang="en-GB" sz="1350" dirty="0"/>
              <a:t>FY26/27 forecast EBITDA (£707k) is below FY25/26 actual (£773k) despite revenue growth — one-off investment, or genuine margin pressure?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1350" b="1" i="1" dirty="0"/>
              <a:t>Weiser valuation/exit </a:t>
            </a:r>
            <a:r>
              <a:rPr lang="en-GB" sz="1350" b="1" dirty="0"/>
              <a:t>- </a:t>
            </a:r>
            <a:r>
              <a:rPr lang="en-GB" sz="1350" dirty="0"/>
              <a:t>What is Weiser's actual valuation expectation for his ~48% stake, and is he open to a staged buy-out (primary now, secondary later) or does he want a clean full exit now?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1350" b="1" i="1" dirty="0"/>
              <a:t>Marketing claims accuracy </a:t>
            </a:r>
            <a:r>
              <a:rPr lang="en-GB" sz="1350" b="1" dirty="0"/>
              <a:t>- </a:t>
            </a:r>
            <a:r>
              <a:rPr lang="en-GB" sz="1350" dirty="0"/>
              <a:t>Blink's competitive positioning describes Tier-1 acquirers as having opaque pricing and long tie-ins — how does this hold up against Stripe's published PAYG pricing and Square's SME-first model, and does it change how we should read other competitive claims in the materials?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1350" b="1" i="1" dirty="0"/>
              <a:t>Revenue mix/churn detail </a:t>
            </a:r>
            <a:r>
              <a:rPr lang="en-GB" sz="1350" b="1" dirty="0"/>
              <a:t>- </a:t>
            </a:r>
            <a:r>
              <a:rPr lang="en-GB" sz="1350" dirty="0"/>
              <a:t>Can management provide the precise recurring vs. transactional revenue split and a formal churn/logo-attrition methodology, rather than the rough verbal split given on the call?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1350" b="1" i="1" dirty="0"/>
              <a:t>Vertical win rate </a:t>
            </a:r>
            <a:r>
              <a:rPr lang="en-GB" sz="1350" b="1" dirty="0"/>
              <a:t>- </a:t>
            </a:r>
            <a:r>
              <a:rPr lang="en-GB" sz="1350" dirty="0"/>
              <a:t>For verticals with an existing dominant player (e.g. solicitors — Clio Payments), what is Blink's actual win rate or evidence of displacement, versus its performance in genuinely open verticals (funeral, waste, property)?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1350" b="1" i="1" dirty="0"/>
              <a:t>Other buyer interest </a:t>
            </a:r>
            <a:r>
              <a:rPr lang="en-GB" sz="1350" b="1" dirty="0"/>
              <a:t>- </a:t>
            </a:r>
            <a:r>
              <a:rPr lang="en-GB" sz="1350" dirty="0"/>
              <a:t>Beyond the declined US-consolidator approach, is there any other live or recent inbound interest that could create price tension or a shortened timeline?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GB" sz="1350" b="1" i="1" dirty="0"/>
              <a:t>Growth quality check </a:t>
            </a:r>
            <a:r>
              <a:rPr lang="en-GB" sz="1350" b="1" dirty="0"/>
              <a:t>- </a:t>
            </a:r>
            <a:r>
              <a:rPr lang="en-GB" sz="1350" dirty="0"/>
              <a:t>What specifically has driven the ICP-focused sales-team "shrink" — how much of the recent EBITDA/growth improvement is cost-driven vs. genuine demand-driven?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1585</TotalTime>
  <Words>2490</Words>
  <Application>Microsoft Macintosh PowerPoint</Application>
  <PresentationFormat>Widescreen</PresentationFormat>
  <Paragraphs>247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 Walker</cp:lastModifiedBy>
  <cp:revision>13</cp:revision>
  <dcterms:created xsi:type="dcterms:W3CDTF">2026-08-12T13:03:12Z</dcterms:created>
  <dcterms:modified xsi:type="dcterms:W3CDTF">2026-08-13T15:52:59Z</dcterms:modified>
</cp:coreProperties>
</file>