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Goal today: everyone leaves knowing what the tool does end to end, and exactly how we work with it week to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377440"/>
            <a:ext cx="6858000" cy="6858000"/>
          </a:xfrm>
          <a:prstGeom prst="ellipse">
            <a:avLst/>
          </a:prstGeom>
          <a:solidFill>
            <a:srgbClr val="2A3575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4206240"/>
            <a:ext cx="4206240" cy="4206240"/>
          </a:xfrm>
          <a:prstGeom prst="ellipse">
            <a:avLst/>
          </a:prstGeom>
          <a:solidFill>
            <a:srgbClr val="2A3575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1371600"/>
            <a:ext cx="777240" cy="777240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010" y="1573682"/>
            <a:ext cx="373075" cy="3730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957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AVERROES CAPITAL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Deal Origination Tool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94360" y="416052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sourcing of founder-led UK &amp; Ireland software businesses,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first signal to IC memo.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" y="5989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walkthrough  ·  45 minutes  ·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45 minutes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84832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48840" y="2039112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1977" y="2172249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880360" y="19293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880360" y="231343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mandate, and what manual sourcing was costing us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990088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68680" y="329184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min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148840" y="324612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977" y="3379257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0360" y="31363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product, end to end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880360" y="35204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Sourcing, AI qualification, registry depth, outreach, replies, memos, investors, analytics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48640" y="4197096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68680" y="4498848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min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2148840" y="4453128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977" y="4586265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880360" y="4343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with it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2880360" y="47274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Monday deal call, the reply playbook, who owns what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548640" y="5404104"/>
            <a:ext cx="1106424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868680" y="5705856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min</a:t>
            </a:r>
            <a:endParaRPr lang="en-US" sz="2000" dirty="0"/>
          </a:p>
        </p:txBody>
      </p:sp>
      <p:sp>
        <p:nvSpPr>
          <p:cNvPr id="24" name="Shape 19"/>
          <p:cNvSpPr/>
          <p:nvPr/>
        </p:nvSpPr>
        <p:spPr>
          <a:xfrm>
            <a:off x="2148840" y="566013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1977" y="5793273"/>
            <a:ext cx="245791" cy="245791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880360" y="555040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+ what's next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2880360" y="5934456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open discussion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mandate needs volume AND precision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492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write £15–40M equity cheques for 25%+ stakes in founder-led B2B software across the UK and Ireland. The companies that fit are small, private, and quiet: they do not raise loudly, and the best ones are not on an intermediary's list. Finding them manually meant scattered spreadsheets, stale data, and outreach nobody could track.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48640" y="3886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exists to do one thing: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224528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Surface every qualifying company in our universe, research it, reach its founder, and remember everything.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406640" y="1691640"/>
            <a:ext cx="4206240" cy="1298448"/>
          </a:xfrm>
          <a:prstGeom prst="roundRect">
            <a:avLst>
              <a:gd name="adj" fmla="val 6338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26680" y="185623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£15–40M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7266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cheque size, 25%+ stakes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406640" y="3172968"/>
            <a:ext cx="4206240" cy="1298448"/>
          </a:xfrm>
          <a:prstGeom prst="roundRect">
            <a:avLst>
              <a:gd name="adj" fmla="val 6338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26680" y="333756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£2.5–40M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726680" y="39502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envelope we can invest behind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406640" y="4654296"/>
            <a:ext cx="4206240" cy="1298448"/>
          </a:xfrm>
          <a:prstGeom prst="roundRect">
            <a:avLst>
              <a:gd name="adj" fmla="val 6338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726680" y="481888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£8–20M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7726680" y="543153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sweet spot for the mandate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flow: signal in, decision 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423160"/>
            <a:ext cx="566928" cy="566928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969" y="257056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1792" y="3108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1792" y="37216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scrapers, URLs,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files, PitchBook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199132" y="310896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42316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990088" y="2423160"/>
            <a:ext cx="566928" cy="566928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7489" y="257056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96312" y="3108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Universe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2496312" y="37216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4,650+ companies,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record each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073652" y="310896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429768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864608" y="2423160"/>
            <a:ext cx="566928" cy="566928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009" y="2570561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370832" y="3108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4370832" y="37216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filters, research,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 0–100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948172" y="310896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617220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739128" y="2423160"/>
            <a:ext cx="566928" cy="566928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6529" y="2570561"/>
            <a:ext cx="272125" cy="27212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245352" y="3108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50" dirty="0"/>
          </a:p>
        </p:txBody>
      </p:sp>
      <p:sp>
        <p:nvSpPr>
          <p:cNvPr id="26" name="Text 20"/>
          <p:cNvSpPr/>
          <p:nvPr/>
        </p:nvSpPr>
        <p:spPr>
          <a:xfrm>
            <a:off x="6245352" y="37216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kanban from Qualified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Won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7822692" y="310896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804672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613648" y="2423160"/>
            <a:ext cx="566928" cy="566928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1049" y="2570561"/>
            <a:ext cx="272125" cy="27212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19872" y="3108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+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</a:t>
            </a:r>
            <a:endParaRPr lang="en-US" sz="1450" dirty="0"/>
          </a:p>
        </p:txBody>
      </p:sp>
      <p:sp>
        <p:nvSpPr>
          <p:cNvPr id="32" name="Text 25"/>
          <p:cNvSpPr/>
          <p:nvPr/>
        </p:nvSpPr>
        <p:spPr>
          <a:xfrm>
            <a:off x="8119872" y="37216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drafts, buckets,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queues</a:t>
            </a:r>
            <a:endParaRPr lang="en-US" sz="1050" dirty="0"/>
          </a:p>
        </p:txBody>
      </p:sp>
      <p:sp>
        <p:nvSpPr>
          <p:cNvPr id="33" name="Text 26"/>
          <p:cNvSpPr/>
          <p:nvPr/>
        </p:nvSpPr>
        <p:spPr>
          <a:xfrm>
            <a:off x="9697212" y="3108960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27"/>
          <p:cNvSpPr/>
          <p:nvPr/>
        </p:nvSpPr>
        <p:spPr>
          <a:xfrm>
            <a:off x="9921240" y="2148840"/>
            <a:ext cx="1700784" cy="2377440"/>
          </a:xfrm>
          <a:prstGeom prst="roundRect">
            <a:avLst>
              <a:gd name="adj" fmla="val 430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10488168" y="2423160"/>
            <a:ext cx="566928" cy="566928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5569" y="2570561"/>
            <a:ext cx="272125" cy="2721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994392" y="31089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Memos +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450" dirty="0"/>
          </a:p>
        </p:txBody>
      </p:sp>
      <p:sp>
        <p:nvSpPr>
          <p:cNvPr id="38" name="Text 30"/>
          <p:cNvSpPr/>
          <p:nvPr/>
        </p:nvSpPr>
        <p:spPr>
          <a:xfrm>
            <a:off x="9994392" y="3721608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memo in one click,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funnel stats</a:t>
            </a:r>
            <a:endParaRPr lang="en-US" sz="1050" dirty="0"/>
          </a:p>
        </p:txBody>
      </p:sp>
      <p:sp>
        <p:nvSpPr>
          <p:cNvPr id="39" name="Text 31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one database. Every page is a view of the same records, so nothing is ever copied, duplicated or lost between screens.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· SOURCING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 it anything, it becomes structured data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8476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190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scrapers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25880" y="2048256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lists, accelerator alumni, market directories, rankings. Re-run automatically every Friday.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529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000329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34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Agent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25880" y="3163824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ANY URL, the AI reads the page, extracts companies or investors, and shows a preview before a single row is saved.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396849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115897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5020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Upload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325880" y="4279392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any CSV, Excel or PDF. The AI maps whatever the columns are called (turnover, sales, T/O all become revenue) and nothing unmapped is thrown away.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08406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5231465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065776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exports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325880" y="539496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PitchBook and Inven exports parse natively with their full column depth.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863840" y="1783080"/>
            <a:ext cx="3749040" cy="4114800"/>
          </a:xfrm>
          <a:prstGeom prst="roundRect">
            <a:avLst>
              <a:gd name="adj" fmla="val 2195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138160" y="228600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4,650+</a:t>
            </a:r>
            <a:endParaRPr lang="en-US" sz="6000" dirty="0"/>
          </a:p>
        </p:txBody>
      </p:sp>
      <p:sp>
        <p:nvSpPr>
          <p:cNvPr id="22" name="Text 16"/>
          <p:cNvSpPr/>
          <p:nvPr/>
        </p:nvSpPr>
        <p:spPr>
          <a:xfrm>
            <a:off x="8138160" y="32004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in the Master Universe today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138160" y="416052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Merge, never overwrite: a re-upload can only fill gaps or add better data. It can never destroy what we already know.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· AI QUALIFICATION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SmartFill: an analyst's first pass, automated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93592" cy="3200400"/>
          </a:xfrm>
          <a:prstGeom prst="roundRect">
            <a:avLst>
              <a:gd name="adj" fmla="val 2571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031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2260031"/>
            <a:ext cx="289682" cy="2896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filters first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41248" y="32918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(UK/IE), industry (software), revenue envelope. Clear failures are rejected instantly and cheaply, with the reason recorded.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15968" y="1783080"/>
            <a:ext cx="3593592" cy="3200400"/>
          </a:xfrm>
          <a:prstGeom prst="roundRect">
            <a:avLst>
              <a:gd name="adj" fmla="val 2571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08576" y="21031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5487" y="2260031"/>
            <a:ext cx="289682" cy="2896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08576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research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608576" y="32918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survivors, the AI researches the live web: what the company does, contacts, investors, news signals. Only source-stated facts are stored.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83296" y="1783080"/>
            <a:ext cx="3593592" cy="3200400"/>
          </a:xfrm>
          <a:prstGeom prst="roundRect">
            <a:avLst>
              <a:gd name="adj" fmla="val 2571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75904" y="21031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2815" y="2260031"/>
            <a:ext cx="289682" cy="28968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880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score 0–100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75904" y="32918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criteria: revenue size and growth, employee growth, business fit, market sentiment. Revenue band flags Target Band vs Too Early vs Too Large.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25780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Cost-guarded by design:  </a:t>
            </a:r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call runs against a shared daily budget. No AI spend happens at upload time, ever. And SmartFill can only improve a record: verified filings beat estimates, longer descriptions beat thinner ones, blanks never overwrite data.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2B · REGISTRY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Companies House, squeezed to the last drop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66544"/>
            <a:ext cx="512064" cy="512064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809" y="2199681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financials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revenue, profit and cash from accounts, three years back, labelled by filing type.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5968" y="1828800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0" y="2066544"/>
            <a:ext cx="512064" cy="512064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137" y="2199681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30368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proof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PSC registers and shareholder filings: who actually controls the company, verified.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83296" y="1828800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39328" y="2066544"/>
            <a:ext cx="512064" cy="512064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465" y="2199681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97696" y="2121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tables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39328" y="269748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Rebuilt from confirmation statements and share allotments, with share-class rights and founder percentage.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215384"/>
            <a:ext cx="512064" cy="512064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809" y="4348521"/>
            <a:ext cx="245791" cy="24579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270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radar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04672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Charges, overdue accounts, insolvency signals: red flags before we ever pick up the phone.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15968" y="3977640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72000" y="4215384"/>
            <a:ext cx="512064" cy="512064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5137" y="4348521"/>
            <a:ext cx="245791" cy="24579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30368" y="4270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watch job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72000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tracked company is re-checked automatically every 2 days. New filings update records without anyone clicking.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83296" y="3977640"/>
            <a:ext cx="3593592" cy="1965960"/>
          </a:xfrm>
          <a:prstGeom prst="roundRect">
            <a:avLst>
              <a:gd name="adj" fmla="val 3721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39328" y="4215384"/>
            <a:ext cx="512064" cy="512064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2465" y="4348521"/>
            <a:ext cx="245791" cy="24579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97696" y="42702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enrichment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339328" y="48463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found in one cap table become LP records, linked back to every company they hold.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funnel today, with honest numbers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12140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4,650+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749808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stored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79776" y="1874520"/>
            <a:ext cx="212140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80944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392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2980944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ever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10912" y="1874520"/>
            <a:ext cx="212140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212080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3D5A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21208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emailed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242048" y="1874520"/>
            <a:ext cx="212140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43216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7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7443216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received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73184" y="1874520"/>
            <a:ext cx="2121408" cy="17830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74352" y="2148840"/>
            <a:ext cx="1783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7F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20.5%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674352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069080"/>
            <a:ext cx="11064240" cy="1965960"/>
          </a:xfrm>
          <a:prstGeom prst="roundRect">
            <a:avLst>
              <a:gd name="adj" fmla="val 4186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42976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 can trust these numbers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" y="470916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a company ever reaches is written to an immutable ledger, keyed by evidence: Engaged means an email actually went out, Responded means a reply actually came in. Deleting or re-uploading a company can never change history, and where stage and email history disagree, the Analytics page says so out loud instead of hiding it.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· OUTREACH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emails that do not sell, they open doors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8476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1907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AI-drafted, human-sent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25880" y="2048256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email is drafted from the company's verified data, reviewed by us, then sent. Nothing goes out unread.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712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018617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52928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ask in the first email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25880" y="3182112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agreed structure: who we are, why we like them, an open invitation to a dialogue. No call request, no document ask, no timing pressure.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050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152473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86784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guardrails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325880" y="4315968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can never invent facts, quote their own numbers back at them, or use banned salesy language. Test emails only ever reach our own inbox.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1389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5286329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1206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queues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325880" y="5449824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3-day and 14-day reminders in both directions: founders who owe us a reply, and replies we owe founders. Nothing stalls silently.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772400" y="1783080"/>
            <a:ext cx="3840480" cy="4343400"/>
          </a:xfrm>
          <a:prstGeom prst="roundRect">
            <a:avLst>
              <a:gd name="adj" fmla="val 2143"/>
            </a:avLst>
          </a:prstGeom>
          <a:solidFill>
            <a:srgbClr val="F7F9FE"/>
          </a:solidFill>
          <a:ln w="12700">
            <a:solidFill>
              <a:srgbClr val="C4D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0467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CURRENT TEMPLATE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8046720" y="23774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appreciate this may not be a priority right now, but we would love to start a dialogue, hear more about your ambitions for the future, and get to introduce you to Averroes.”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046720" y="50292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and documents come later, after a founder shows interest, likely under NDA.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· REPLIES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reply lands in a bucket with a next step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inbox syncs automatically. Each founder reply is classified into one of ten action buckets, from “right fit, set up a call” to “not a fit, do not respond”, and the bucket becomes the button on the company's card. A suggested reply is drafted for review; it never sends itself.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593592" cy="566928"/>
          </a:xfrm>
          <a:prstGeom prst="roundRect">
            <a:avLst>
              <a:gd name="adj" fmla="val 14516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962656"/>
            <a:ext cx="219456" cy="219456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87121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fit — set up call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15968" y="2788920"/>
            <a:ext cx="3593592" cy="566928"/>
          </a:xfrm>
          <a:prstGeom prst="roundRect">
            <a:avLst>
              <a:gd name="adj" fmla="val 14516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80560" y="2962656"/>
            <a:ext cx="219456" cy="219456"/>
          </a:xfrm>
          <a:prstGeom prst="ellipse">
            <a:avLst/>
          </a:prstGeom>
          <a:solidFill>
            <a:srgbClr val="1E7F4F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287121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fit — answer &amp; advance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83296" y="2788920"/>
            <a:ext cx="3593592" cy="566928"/>
          </a:xfrm>
          <a:prstGeom prst="roundRect">
            <a:avLst>
              <a:gd name="adj" fmla="val 14516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47888" y="2962656"/>
            <a:ext cx="219456" cy="219456"/>
          </a:xfrm>
          <a:prstGeom prst="ellipse">
            <a:avLst/>
          </a:prstGeom>
          <a:solidFill>
            <a:srgbClr val="3D5AF1"/>
          </a:solidFill>
          <a:ln/>
        </p:spPr>
      </p:sp>
      <p:sp>
        <p:nvSpPr>
          <p:cNvPr id="13" name="Text 11"/>
          <p:cNvSpPr/>
          <p:nvPr/>
        </p:nvSpPr>
        <p:spPr>
          <a:xfrm>
            <a:off x="8586216" y="2871216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— follow referral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38728"/>
            <a:ext cx="3593592" cy="566928"/>
          </a:xfrm>
          <a:prstGeom prst="roundRect">
            <a:avLst>
              <a:gd name="adj" fmla="val 14516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3232" y="3712464"/>
            <a:ext cx="219456" cy="21945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6210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early — nurture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15968" y="3538728"/>
            <a:ext cx="3593592" cy="566928"/>
          </a:xfrm>
          <a:prstGeom prst="roundRect">
            <a:avLst>
              <a:gd name="adj" fmla="val 14516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0560" y="3712464"/>
            <a:ext cx="219456" cy="219456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4818888" y="36210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now — timing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083296" y="3538728"/>
            <a:ext cx="3593592" cy="566928"/>
          </a:xfrm>
          <a:prstGeom prst="roundRect">
            <a:avLst>
              <a:gd name="adj" fmla="val 14516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47888" y="3712464"/>
            <a:ext cx="219456" cy="219456"/>
          </a:xfrm>
          <a:prstGeom prst="ellipse">
            <a:avLst/>
          </a:prstGeom>
          <a:solidFill>
            <a:srgbClr val="8B1E2D"/>
          </a:solidFill>
          <a:ln/>
        </p:spPr>
      </p:sp>
      <p:sp>
        <p:nvSpPr>
          <p:cNvPr id="22" name="Text 20"/>
          <p:cNvSpPr/>
          <p:nvPr/>
        </p:nvSpPr>
        <p:spPr>
          <a:xfrm>
            <a:off x="8586216" y="3621024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Declined — close politely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43891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more buckets covering structure mismatch, too large, needs human read, and no-response hygiene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68680" y="51663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playbook decides who takes the call:  </a:t>
            </a:r>
            <a:pPr indent="0" marL="0">
              <a:buNone/>
            </a:pPr>
            <a:r>
              <a:rPr lang="en-US" sz="13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opportunities route to Bea, standard ones to the team, unsure means gather info first. The decision tree is a one-pager everyone has.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· DECISION 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engaged company to IC memo in one click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121408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901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Executive summary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79776" y="1828800"/>
            <a:ext cx="2121408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07792" y="1901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Investment thesis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10912" y="1828800"/>
            <a:ext cx="2121408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38928" y="1901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Company overview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42048" y="1828800"/>
            <a:ext cx="2121408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70064" y="1901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473184" y="1828800"/>
            <a:ext cx="2121408" cy="548640"/>
          </a:xfrm>
          <a:prstGeom prst="roundRect">
            <a:avLst>
              <a:gd name="adj" fmla="val 13333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90195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Financials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560320"/>
            <a:ext cx="2121408" cy="548640"/>
          </a:xfrm>
          <a:prstGeom prst="roundRect">
            <a:avLst>
              <a:gd name="adj" fmla="val 13333"/>
            </a:avLst>
          </a:prstGeom>
          <a:solidFill>
            <a:srgbClr val="F7F9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26334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Diligence summary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79776" y="2560320"/>
            <a:ext cx="2121408" cy="548640"/>
          </a:xfrm>
          <a:prstGeom prst="roundRect">
            <a:avLst>
              <a:gd name="adj" fmla="val 13333"/>
            </a:avLst>
          </a:prstGeom>
          <a:solidFill>
            <a:srgbClr val="F7F9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26334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Value creation plan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10912" y="2560320"/>
            <a:ext cx="2121408" cy="548640"/>
          </a:xfrm>
          <a:prstGeom prst="roundRect">
            <a:avLst>
              <a:gd name="adj" fmla="val 13333"/>
            </a:avLst>
          </a:prstGeom>
          <a:solidFill>
            <a:srgbClr val="F7F9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38928" y="26334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Risks &amp; mitigations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42048" y="2560320"/>
            <a:ext cx="2121408" cy="548640"/>
          </a:xfrm>
          <a:prstGeom prst="roundRect">
            <a:avLst>
              <a:gd name="adj" fmla="val 13333"/>
            </a:avLst>
          </a:prstGeom>
          <a:solidFill>
            <a:srgbClr val="F7F9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70064" y="26334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Returns scenarios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73184" y="2560320"/>
            <a:ext cx="2121408" cy="548640"/>
          </a:xfrm>
          <a:prstGeom prst="roundRect">
            <a:avLst>
              <a:gd name="adj" fmla="val 13333"/>
            </a:avLst>
          </a:prstGeom>
          <a:solidFill>
            <a:srgbClr val="F7F9FE"/>
          </a:solidFill>
          <a:ln w="12700">
            <a:solidFill>
              <a:srgbClr val="C4D4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3347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Recommendation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61188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ten-section PE memo structure, generated from everything the tool already verified: filed financials, cap table, ownership, registry flags, scores and news. Numbers are computed in code; the AI writes prose only. Facts the tool has verified are separated from open questions for diligence, and returns scenarios are clearly labelled illustrative.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800600"/>
            <a:ext cx="11064240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68680" y="51206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fits: 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for companies at Engaged or later, downloadable as a PDF, and the backbone of the top-5 discussion in our Monday call.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OTHER SIDE OF THE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Investors module: LPs, funds and connections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188476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7190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3,300+ investor profiles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1325880" y="2048256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PitchBook LP exports parsed with full depth: commitments count and dollars, PE vs VC split, secondaries activity, mandates, tickets.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8712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41" y="3018617"/>
            <a:ext cx="272125" cy="2721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85292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 layer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1325880" y="3182112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link to the companies they hold, mined from cap tables, PSC registers and share filings. Click any investor to see portfolio overlap and warm-intro paths.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40050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4152473"/>
            <a:ext cx="272125" cy="2721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986784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InvestorFill</a:t>
            </a:r>
            <a:endParaRPr lang="en-US" sz="1650" dirty="0"/>
          </a:p>
        </p:txBody>
      </p:sp>
      <p:sp>
        <p:nvSpPr>
          <p:cNvPr id="15" name="Text 10"/>
          <p:cNvSpPr/>
          <p:nvPr/>
        </p:nvSpPr>
        <p:spPr>
          <a:xfrm>
            <a:off x="1325880" y="431596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AI research pass, for LPs: classifies type, finds AUM and contacts, scores fit against our geography, ticket and appetite.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513892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41" y="5286329"/>
            <a:ext cx="272125" cy="2721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5120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Self-refreshing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325880" y="5449824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re-runs daily over qualified companies, so every new cap table feeds the investor graph automatically.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7863840" y="1783080"/>
            <a:ext cx="3749040" cy="4343400"/>
          </a:xfrm>
          <a:prstGeom prst="roundRect">
            <a:avLst>
              <a:gd name="adj" fmla="val 2195"/>
            </a:avLst>
          </a:prstGeom>
          <a:solidFill>
            <a:srgbClr val="E8F0FE"/>
          </a:solidFill>
          <a:ln w="12700">
            <a:solidFill>
              <a:srgbClr val="C4D4F5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813816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8138160" y="251460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Deal-side: know who already backs a target before we call.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Fund-side: a living LP pipeline with evidence of who actually writes PE cheques, at what size, and who is open to first-time funds.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D5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AND MEASURING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0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to the database, trust the dashboard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2505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Chat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in plain English: “which qualified companies have founder ownership above 50%?”, “who invests in our pipeline?”. Answers come from OUR data only; it never guesses. If the database cannot answer, it offers a live web search and runs it only when you press the button.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5394960" cy="429768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2700">
            <a:solidFill>
              <a:srgbClr val="D9E0F0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1031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361" y="22505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212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0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537960" y="288036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funnel, ever vs current, for every stage. Response rate from email evidence. Weekly outreach volume. Daily snapshots build the trend over time.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 immutable ledger: history survives deletions, and inconsistencies are flagged, never hidden.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WORK WITH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Monday deal call, 60 minutes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47672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0:00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8745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health check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91640" y="2194560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replies, follow-ups due, stage moves, straight from the tool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660904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25496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0:05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91640" y="275234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Intermediary deals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691640" y="307238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half-page snapshot each; every deal leaves with qualify or disqualify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38728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033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0:20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363016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primary deals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91640" y="395020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tool-ranked, metrics and financials pre-gathered; qualify for calls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416552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581144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0:40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691640" y="450799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the week's calls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691640" y="4828032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per the playbook: great opportunity Bea, standard team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5294376"/>
            <a:ext cx="7498080" cy="749808"/>
          </a:xfrm>
          <a:prstGeom prst="roundRect">
            <a:avLst>
              <a:gd name="adj" fmla="val 9756"/>
            </a:avLst>
          </a:prstGeom>
          <a:solidFill>
            <a:srgbClr val="2A3575"/>
          </a:solidFill>
          <a:ln w="12700">
            <a:solidFill>
              <a:srgbClr val="4550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5458968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0:50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91640" y="538581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week's bench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691640" y="5705856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proposed from tool shortlist, new sources, referrals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21040" y="1783080"/>
            <a:ext cx="3291840" cy="4224528"/>
          </a:xfrm>
          <a:prstGeom prst="roundRect">
            <a:avLst>
              <a:gd name="adj" fmla="val 2500"/>
            </a:avLst>
          </a:prstGeom>
          <a:solidFill>
            <a:srgbClr val="3D5AF1"/>
          </a:solidFill>
          <a:ln w="12700">
            <a:solidFill>
              <a:srgbClr val="3D5AF1"/>
            </a:solidFill>
            <a:prstDash val="solid"/>
          </a:ln>
          <a:effectLst>
            <a:outerShdw sx="100000" sy="100000" kx="0" ky="0" algn="bl" rotWithShape="0" blurRad="101600" dist="25400" dir="5400000">
              <a:srgbClr val="1E2761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59536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calls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95360" y="2514600"/>
            <a:ext cx="2788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Replies follow the decision playbook: 3 follow-up touches, then dormant with a news trigger. Nurture is monthly plus news hooks. All decisions land in the tool the same day.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931920"/>
            <a:ext cx="5943600" cy="5943600"/>
          </a:xfrm>
          <a:prstGeom prst="ellipse">
            <a:avLst/>
          </a:prstGeom>
          <a:solidFill>
            <a:srgbClr val="2A35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tool goes from here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48640" cy="548640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97144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98448" y="18105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layer, phase 2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298448" y="2139696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Fund-level commitments: which LP committed to which fund, at what vintage and size.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871216"/>
            <a:ext cx="548640" cy="548640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3013862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285292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nurture automation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1298448" y="3182112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 re-approach on news triggers, monthly touches suggested automatically.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913632"/>
            <a:ext cx="548640" cy="548640"/>
          </a:xfrm>
          <a:prstGeom prst="ellipse">
            <a:avLst/>
          </a:prstGeom>
          <a:solidFill>
            <a:srgbClr val="3D5AF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4056278"/>
            <a:ext cx="263347" cy="26334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98448" y="389534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sources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1298448" y="4224528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list, event or database you find: paste the URL or drop the file, the tool does the rest.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548640" y="52120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566928" y="6035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way to improve the tool is to use it and complain loudly.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1365992" y="63550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2026-07-29T08:17:23Z</dcterms:created>
  <dcterms:modified xsi:type="dcterms:W3CDTF">2026-07-29T08:17:23Z</dcterms:modified>
</cp:coreProperties>
</file>