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6"/>
  </p:sldMasterIdLst>
  <p:notesMasterIdLst>
    <p:notesMasterId r:id="rId36"/>
  </p:notesMasterIdLst>
  <p:sldIdLst>
    <p:sldId id="4050" r:id="rId29"/>
  </p:sldIdLst>
  <p:sldSz cx="9906000" cy="6858000" type="A4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ESTED" id="{E96D29C9-0D14-6744-B468-C04EAB2032D9}">
          <p14:sldIdLst>
            <p14:sldId id="256"/>
            <p14:sldId id="257"/>
            <p14:sldId id="4038"/>
            <p14:sldId id="4053"/>
            <p14:sldId id="4054"/>
            <p14:sldId id="4055"/>
            <p14:sldId id="4015"/>
            <p14:sldId id="4016"/>
            <p14:sldId id="4017"/>
          </p14:sldIdLst>
        </p14:section>
        <p14:section name="GLOW (MANUAL)" id="{7AE3F164-41F5-BF48-AABE-5C50BD0F926D}">
          <p14:sldIdLst>
            <p14:sldId id="4034"/>
            <p14:sldId id="4044"/>
            <p14:sldId id="4045"/>
          </p14:sldIdLst>
        </p14:section>
        <p14:section name="UNTESTED" id="{C1F4E193-B9F4-E14B-9D2D-CEFCBB0157F8}">
          <p14:sldIdLst>
            <p14:sldId id="4050"/>
            <p14:sldId id="4046"/>
            <p14:sldId id="4029"/>
            <p14:sldId id="4035"/>
            <p14:sldId id="4009"/>
            <p14:sldId id="4031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172" userDrawn="1">
          <p15:clr>
            <a:srgbClr val="A4A3A4"/>
          </p15:clr>
        </p15:guide>
        <p15:guide id="4" pos="3256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vaU4tiCrFLpAbCXBJPeu4fZiTa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D8FE2C-CA41-C2C1-626E-99F23AA0B829}" name="Bhavya Garg" initials="BG" userId="2d1bca2b896429f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A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D8A3CA-C12B-4460-81E7-A897AF7C3B56}">
  <a:tblStyle styleId="{2CD8A3CA-C12B-4460-81E7-A897AF7C3B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ACA45F7-CB25-417B-B5A4-DAC092EDA6A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DF0F3"/>
          </a:solidFill>
        </a:fill>
      </a:tcStyle>
    </a:wholeTbl>
    <a:band1H>
      <a:tcTxStyle/>
      <a:tcStyle>
        <a:tcBdr/>
        <a:fill>
          <a:solidFill>
            <a:srgbClr val="DADF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ADF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E53C49-B2FF-4114-B71D-FF9C2736C55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89246"/>
  </p:normalViewPr>
  <p:slideViewPr>
    <p:cSldViewPr snapToGrid="0" showGuides="1">
      <p:cViewPr>
        <p:scale>
          <a:sx n="128" d="100"/>
          <a:sy n="128" d="100"/>
        </p:scale>
        <p:origin x="2968" y="456"/>
      </p:cViewPr>
      <p:guideLst>
        <p:guide orient="horz" pos="2160"/>
        <p:guide pos="3120"/>
        <p:guide pos="172"/>
        <p:guide pos="3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9" Type="http://schemas.openxmlformats.org/officeDocument/2006/relationships/slide" Target="slides/slide1.xml"/><Relationship Id="rId36" Type="http://schemas.openxmlformats.org/officeDocument/2006/relationships/notesMaster" Target="notesMasters/notesMaster1.xml"/><Relationship Id="rId53" Type="http://customschemas.google.com/relationships/presentationmetadata" Target="meta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501D6AB9-817A-3F77-99AB-95CC3742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:notes">
            <a:extLst>
              <a:ext uri="{FF2B5EF4-FFF2-40B4-BE49-F238E27FC236}">
                <a16:creationId xmlns:a16="http://schemas.microsoft.com/office/drawing/2014/main" id="{4502DEC9-F9BC-3B2B-D2A2-97C590B9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Introduces AverroesIntel to the board. Right box: what the tool does. Left: the live pipeline. Bottom: cumulative volumes from the platform's analytics (26 Aug 2026); replies exclude autoresponders and bounces.</a:t>
            </a:r>
          </a:p>
        </p:txBody>
      </p:sp>
      <p:sp>
        <p:nvSpPr>
          <p:cNvPr id="319" name="Google Shape;319;p46:notes">
            <a:extLst>
              <a:ext uri="{FF2B5EF4-FFF2-40B4-BE49-F238E27FC236}">
                <a16:creationId xmlns:a16="http://schemas.microsoft.com/office/drawing/2014/main" id="{371086C3-48CB-9DC4-321E-F45A1042B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93219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0A6B696-43A9-BF63-2993-54A2D1D6C36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517228" y="6321134"/>
            <a:ext cx="8828258" cy="16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None/>
              <a:defRPr sz="650" i="1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1950"/>
              <a:buFont typeface="Trebuchet MS"/>
              <a:buNone/>
              <a:defRPr sz="1950">
                <a:solidFill>
                  <a:srgbClr val="25335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2"/>
          </p:nvPr>
        </p:nvSpPr>
        <p:spPr>
          <a:xfrm>
            <a:off x="517228" y="1253331"/>
            <a:ext cx="88282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5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53356"/>
              </a:buClr>
              <a:buSzPts val="1463"/>
              <a:buChar char="•"/>
              <a:defRPr sz="1463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20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43" name="Google Shape;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44;p20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" name="Google Shape;45;p20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solidFill>
          <a:schemeClr val="dk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517228" y="6310311"/>
            <a:ext cx="8828257" cy="19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None/>
              <a:defRPr sz="650" i="1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body" idx="2"/>
          </p:nvPr>
        </p:nvSpPr>
        <p:spPr>
          <a:xfrm>
            <a:off x="682328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788"/>
              <a:buNone/>
              <a:defRPr sz="1787" b="1">
                <a:solidFill>
                  <a:srgbClr val="24335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None/>
              <a:defRPr sz="1463" b="1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body" idx="3"/>
          </p:nvPr>
        </p:nvSpPr>
        <p:spPr>
          <a:xfrm>
            <a:off x="682328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787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1pPr>
            <a:lvl2pPr marL="914400" lvl="1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2pPr>
            <a:lvl3pPr marL="1371600" lvl="2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3pPr>
            <a:lvl4pPr marL="1828800" lvl="3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4pPr>
            <a:lvl5pPr marL="2286000" lvl="4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body" idx="4"/>
          </p:nvPr>
        </p:nvSpPr>
        <p:spPr>
          <a:xfrm>
            <a:off x="5154783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788"/>
              <a:buNone/>
              <a:defRPr sz="1787" b="1">
                <a:solidFill>
                  <a:srgbClr val="24335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None/>
              <a:defRPr sz="1463" b="1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102" name="Google Shape;102;p28"/>
          <p:cNvSpPr txBox="1">
            <a:spLocks noGrp="1"/>
          </p:cNvSpPr>
          <p:nvPr>
            <p:ph type="body" idx="5"/>
          </p:nvPr>
        </p:nvSpPr>
        <p:spPr>
          <a:xfrm>
            <a:off x="5154783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787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1pPr>
            <a:lvl2pPr marL="914400" lvl="1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2pPr>
            <a:lvl3pPr marL="1371600" lvl="2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3pPr>
            <a:lvl4pPr marL="1828800" lvl="3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4pPr>
            <a:lvl5pPr marL="2286000" lvl="4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28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8"/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Trebuchet MS"/>
              <a:buNone/>
              <a:defRPr sz="195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8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20302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108" name="Google Shape;10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8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28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517228" y="6310311"/>
            <a:ext cx="8828258" cy="19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None/>
              <a:defRPr sz="650" i="1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2"/>
          </p:nvPr>
        </p:nvSpPr>
        <p:spPr>
          <a:xfrm>
            <a:off x="4211340" y="1349024"/>
            <a:ext cx="5134146" cy="4512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787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1pPr>
            <a:lvl2pPr marL="914400" lvl="1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2pPr>
            <a:lvl3pPr marL="1371600" lvl="2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3pPr>
            <a:lvl4pPr marL="1828800" lvl="3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4pPr>
            <a:lvl5pPr marL="2286000" lvl="4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5pPr>
            <a:lvl6pPr marL="2743200" lvl="5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6pPr>
            <a:lvl7pPr marL="3200400" lvl="6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7pPr>
            <a:lvl8pPr marL="3657600" lvl="7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8pPr>
            <a:lvl9pPr marL="4114800" lvl="8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body" idx="3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300"/>
              <a:buNone/>
              <a:defRPr sz="1300">
                <a:solidFill>
                  <a:srgbClr val="24335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138"/>
              <a:buNone/>
              <a:defRPr sz="1138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29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Trebuchet MS"/>
              <a:buNone/>
              <a:defRPr sz="195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120" name="Google Shape;12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9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" name="Google Shape;122;p29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bg>
      <p:bgPr>
        <a:solidFill>
          <a:schemeClr val="dk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body" idx="1"/>
          </p:nvPr>
        </p:nvSpPr>
        <p:spPr>
          <a:xfrm>
            <a:off x="517228" y="6310312"/>
            <a:ext cx="8828257" cy="18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None/>
              <a:defRPr sz="650" i="1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>
            <a:spLocks noGrp="1"/>
          </p:cNvSpPr>
          <p:nvPr>
            <p:ph type="pic" idx="2"/>
          </p:nvPr>
        </p:nvSpPr>
        <p:spPr>
          <a:xfrm>
            <a:off x="4366394" y="1179514"/>
            <a:ext cx="4979091" cy="468153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3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300"/>
              <a:buNone/>
              <a:defRPr sz="1300">
                <a:solidFill>
                  <a:srgbClr val="24335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138"/>
              <a:buNone/>
              <a:defRPr sz="1138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30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30"/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Trebuchet MS"/>
              <a:buNone/>
              <a:defRPr sz="195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132" name="Google Shape;13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30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" name="Google Shape;134;p30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25335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6238D84-B7FB-237A-1B6B-7164B2CB6D1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Trebuchet MS"/>
              <a:buNone/>
              <a:defRPr sz="325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 sz="195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None/>
              <a:defRPr sz="1625"/>
            </a:lvl2pPr>
            <a:lvl3pPr lvl="2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None/>
              <a:defRPr sz="1463"/>
            </a:lvl3pPr>
            <a:lvl4pPr lvl="3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6603" y="168800"/>
            <a:ext cx="1263052" cy="43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7270700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819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/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25" rIns="74275" bIns="3712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Trebuchet MS"/>
              <a:buNone/>
            </a:pPr>
            <a:r>
              <a:rPr lang="en-GB" sz="195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195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19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sp>
        <p:nvSpPr>
          <p:cNvPr id="28" name="Google Shape;28;p19"/>
          <p:cNvSpPr txBox="1"/>
          <p:nvPr/>
        </p:nvSpPr>
        <p:spPr>
          <a:xfrm>
            <a:off x="517227" y="1372771"/>
            <a:ext cx="6494937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	             					         Page</a:t>
            </a:r>
            <a:endParaRPr sz="1300" b="1" i="0" u="none" strike="noStrike" cap="none" dirty="0">
              <a:solidFill>
                <a:srgbClr val="25335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517228" y="1897113"/>
            <a:ext cx="5294808" cy="382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0512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AutoNum type="arabicPeriod"/>
              <a:defRPr sz="975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2"/>
          </p:nvPr>
        </p:nvSpPr>
        <p:spPr>
          <a:xfrm>
            <a:off x="5857727" y="1897113"/>
            <a:ext cx="1047550" cy="382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1" name="Google Shape;31;p19"/>
          <p:cNvCxnSpPr/>
          <p:nvPr/>
        </p:nvCxnSpPr>
        <p:spPr>
          <a:xfrm>
            <a:off x="517228" y="1735188"/>
            <a:ext cx="6331843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" name="Google Shape;32;p19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" name="Google Shape;33;p19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0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dk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08F612DA-D946-D08C-BB7F-11D52A6E7B9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Google Shape;58;p52"/>
          <p:cNvSpPr txBox="1">
            <a:spLocks noGrp="1"/>
          </p:cNvSpPr>
          <p:nvPr>
            <p:ph type="body" idx="1"/>
          </p:nvPr>
        </p:nvSpPr>
        <p:spPr>
          <a:xfrm>
            <a:off x="517228" y="6310311"/>
            <a:ext cx="8828258" cy="18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None/>
              <a:defRPr sz="650" i="1">
                <a:solidFill>
                  <a:srgbClr val="253356"/>
                </a:solidFill>
              </a:defRPr>
            </a:lvl1pPr>
            <a:lvl2pPr marL="914400" lvl="1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300"/>
              <a:buChar char="•"/>
              <a:defRPr sz="1300">
                <a:solidFill>
                  <a:srgbClr val="253356"/>
                </a:solidFill>
              </a:defRPr>
            </a:lvl2pPr>
            <a:lvl3pPr marL="1371600" lvl="2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1138"/>
              <a:buChar char="•"/>
              <a:defRPr sz="1138">
                <a:solidFill>
                  <a:srgbClr val="253356"/>
                </a:solidFill>
              </a:defRPr>
            </a:lvl3pPr>
            <a:lvl4pPr marL="1828800" lvl="3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4pPr>
            <a:lvl5pPr marL="2286000" lvl="4" indent="-290512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53356"/>
              </a:buClr>
              <a:buSzPts val="975"/>
              <a:buChar char="•"/>
              <a:defRPr sz="975">
                <a:solidFill>
                  <a:srgbClr val="25335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2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787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1pPr>
            <a:lvl2pPr marL="914400" lvl="1" indent="-3215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463"/>
              <a:buChar char="•"/>
              <a:defRPr sz="1463">
                <a:solidFill>
                  <a:srgbClr val="243357"/>
                </a:solidFill>
              </a:defRPr>
            </a:lvl2pPr>
            <a:lvl3pPr marL="1371600" lvl="2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300"/>
              <a:buChar char="•"/>
              <a:defRPr sz="1300">
                <a:solidFill>
                  <a:srgbClr val="243357"/>
                </a:solidFill>
              </a:defRPr>
            </a:lvl3pPr>
            <a:lvl4pPr marL="1828800" lvl="3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138"/>
              <a:buChar char="•"/>
              <a:defRPr sz="1138">
                <a:solidFill>
                  <a:srgbClr val="243357"/>
                </a:solidFill>
              </a:defRPr>
            </a:lvl4pPr>
            <a:lvl5pPr marL="2286000" lvl="4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138"/>
              <a:buChar char="•"/>
              <a:defRPr sz="1138">
                <a:solidFill>
                  <a:srgbClr val="24335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body" idx="3"/>
          </p:nvPr>
        </p:nvSpPr>
        <p:spPr>
          <a:xfrm>
            <a:off x="5135435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787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243357"/>
              </a:buClr>
              <a:buSzPts val="1625"/>
              <a:buChar char="•"/>
              <a:defRPr sz="1625">
                <a:solidFill>
                  <a:srgbClr val="243357"/>
                </a:solidFill>
              </a:defRPr>
            </a:lvl1pPr>
            <a:lvl2pPr marL="914400" lvl="1" indent="-3215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463"/>
              <a:buChar char="•"/>
              <a:defRPr sz="1463">
                <a:solidFill>
                  <a:srgbClr val="243357"/>
                </a:solidFill>
              </a:defRPr>
            </a:lvl2pPr>
            <a:lvl3pPr marL="1371600" lvl="2" indent="-31115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300"/>
              <a:buChar char="•"/>
              <a:defRPr sz="1300">
                <a:solidFill>
                  <a:srgbClr val="243357"/>
                </a:solidFill>
              </a:defRPr>
            </a:lvl3pPr>
            <a:lvl4pPr marL="1828800" lvl="3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138"/>
              <a:buChar char="•"/>
              <a:defRPr sz="1138">
                <a:solidFill>
                  <a:srgbClr val="243357"/>
                </a:solidFill>
              </a:defRPr>
            </a:lvl4pPr>
            <a:lvl5pPr marL="2286000" lvl="4" indent="-300863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243357"/>
              </a:buClr>
              <a:buSzPts val="1138"/>
              <a:buChar char="•"/>
              <a:defRPr sz="1138">
                <a:solidFill>
                  <a:srgbClr val="24335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52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Trebuchet MS"/>
              <a:buNone/>
              <a:defRPr sz="195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/>
          <p:nvPr/>
        </p:nvSpPr>
        <p:spPr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650"/>
              <a:buFont typeface="Trebuchet MS"/>
              <a:buNone/>
            </a:pPr>
            <a:r>
              <a:rPr lang="en-GB" sz="650" b="0" i="1" u="none" strike="noStrike" cap="none" dirty="0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rPr>
              <a:t>Strictly Private &amp; Confidential</a:t>
            </a:r>
            <a:endParaRPr sz="1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975"/>
              <a:buFont typeface="Trebuchet MS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66" name="Google Shape;6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52"/>
          <p:cNvCxnSpPr/>
          <p:nvPr/>
        </p:nvCxnSpPr>
        <p:spPr>
          <a:xfrm>
            <a:off x="517228" y="1038225"/>
            <a:ext cx="8828258" cy="1"/>
          </a:xfrm>
          <a:prstGeom prst="straightConnector1">
            <a:avLst/>
          </a:prstGeom>
          <a:noFill/>
          <a:ln w="38100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" name="Google Shape;68;p52"/>
          <p:cNvCxnSpPr/>
          <p:nvPr/>
        </p:nvCxnSpPr>
        <p:spPr>
          <a:xfrm>
            <a:off x="517228" y="6497638"/>
            <a:ext cx="8828258" cy="0"/>
          </a:xfrm>
          <a:prstGeom prst="straightConnector1">
            <a:avLst/>
          </a:prstGeom>
          <a:noFill/>
          <a:ln w="9525" cap="flat" cmpd="sng">
            <a:solidFill>
              <a:srgbClr val="3B517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5049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st Page">
  <p:cSld name="1_Last Page">
    <p:bg>
      <p:bgPr>
        <a:solidFill>
          <a:srgbClr val="253356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7270700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533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sp>
        <p:nvSpPr>
          <p:cNvPr id="73" name="Google Shape;73;p24"/>
          <p:cNvSpPr txBox="1"/>
          <p:nvPr/>
        </p:nvSpPr>
        <p:spPr>
          <a:xfrm>
            <a:off x="1253728" y="6488113"/>
            <a:ext cx="7831931" cy="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1"/>
              <a:buFont typeface="Arial"/>
              <a:buNone/>
            </a:pPr>
            <a:r>
              <a:rPr lang="en-GB" sz="731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Averroes Capital Limited is an appointed representative of Capricorn Fund Managers Limited (FRN: 505252) which is authorised and regulated by the UK Financial Conduct Authority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6603" y="168800"/>
            <a:ext cx="1263052" cy="4317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22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C6FE4EC3-8F95-725A-641B-6727C58E47E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ACC9AB-0461-4241-9D78-6103FB06F1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7228" y="6321134"/>
            <a:ext cx="8828258" cy="164817"/>
          </a:xfrm>
        </p:spPr>
        <p:txBody>
          <a:bodyPr lIns="0"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650" i="1">
                <a:solidFill>
                  <a:srgbClr val="253356"/>
                </a:solidFill>
              </a:defRPr>
            </a:lvl1pPr>
            <a:lvl2pPr>
              <a:defRPr sz="1300">
                <a:solidFill>
                  <a:srgbClr val="253356"/>
                </a:solidFill>
              </a:defRPr>
            </a:lvl2pPr>
            <a:lvl3pPr>
              <a:defRPr sz="1138">
                <a:solidFill>
                  <a:srgbClr val="253356"/>
                </a:solidFill>
              </a:defRPr>
            </a:lvl3pPr>
            <a:lvl4pPr>
              <a:defRPr sz="975">
                <a:solidFill>
                  <a:srgbClr val="253356"/>
                </a:solidFill>
              </a:defRPr>
            </a:lvl4pPr>
            <a:lvl5pPr>
              <a:defRPr sz="975">
                <a:solidFill>
                  <a:srgbClr val="25335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8E744-FD69-420B-9CD0-CB15565B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</p:spPr>
        <p:txBody>
          <a:bodyPr lIns="0">
            <a:normAutofit/>
          </a:bodyPr>
          <a:lstStyle>
            <a:lvl1pPr>
              <a:defRPr sz="1950">
                <a:solidFill>
                  <a:srgbClr val="25335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B1F61-16BA-4957-9D9F-F353F596D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28" y="1253331"/>
            <a:ext cx="8828258" cy="4351338"/>
          </a:xfrm>
        </p:spPr>
        <p:txBody>
          <a:bodyPr>
            <a:normAutofit/>
          </a:bodyPr>
          <a:lstStyle>
            <a:lvl1pPr>
              <a:defRPr sz="1463">
                <a:solidFill>
                  <a:srgbClr val="253356"/>
                </a:solidFill>
              </a:defRPr>
            </a:lvl1pPr>
            <a:lvl2pPr>
              <a:defRPr sz="1300">
                <a:solidFill>
                  <a:srgbClr val="253356"/>
                </a:solidFill>
              </a:defRPr>
            </a:lvl2pPr>
            <a:lvl3pPr>
              <a:defRPr sz="1138">
                <a:solidFill>
                  <a:srgbClr val="253356"/>
                </a:solidFill>
              </a:defRPr>
            </a:lvl3pPr>
            <a:lvl4pPr>
              <a:defRPr sz="975">
                <a:solidFill>
                  <a:srgbClr val="253356"/>
                </a:solidFill>
              </a:defRPr>
            </a:lvl4pPr>
            <a:lvl5pPr>
              <a:defRPr sz="975">
                <a:solidFill>
                  <a:srgbClr val="25335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FFFB-1306-4861-9486-685FF5AE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6BCC-2CE7-4241-8E98-D3DA683B8C27}" type="datetime1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8F94A-1B4F-4419-982D-4E3A3685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1BEBB96B-2355-44A9-8F0A-4727EEBFE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27" y="6551613"/>
            <a:ext cx="1335622" cy="192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GB" altLang="en-US" sz="650" i="1" dirty="0">
                <a:solidFill>
                  <a:srgbClr val="253356"/>
                </a:solidFill>
                <a:latin typeface="Trebuchet MS" panose="020B0603020202020204" pitchFamily="34" charset="0"/>
              </a:rPr>
              <a:t>Strictly Private &amp;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2E073A-E8FA-4AD5-86B0-970C7DBCC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rgbClr val="253356"/>
                </a:solidFill>
              </a:defRPr>
            </a:lvl1pPr>
          </a:lstStyle>
          <a:p>
            <a:fld id="{3E034474-B4F5-4899-8117-1FEDC3DB89B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FC21AA-4BDD-46E0-97BB-58BE1E132D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DBFB71-B43A-4331-9E93-79EF82EA93DA}"/>
              </a:ext>
            </a:extLst>
          </p:cNvPr>
          <p:cNvCxnSpPr>
            <a:cxnSpLocks/>
          </p:cNvCxnSpPr>
          <p:nvPr userDrawn="1"/>
        </p:nvCxnSpPr>
        <p:spPr>
          <a:xfrm>
            <a:off x="517228" y="1038225"/>
            <a:ext cx="8828258" cy="1"/>
          </a:xfrm>
          <a:prstGeom prst="line">
            <a:avLst/>
          </a:prstGeom>
          <a:ln w="38100">
            <a:solidFill>
              <a:srgbClr val="3B51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473C10-7E21-4A76-9053-AE1E336404CF}"/>
              </a:ext>
            </a:extLst>
          </p:cNvPr>
          <p:cNvCxnSpPr>
            <a:cxnSpLocks/>
          </p:cNvCxnSpPr>
          <p:nvPr userDrawn="1"/>
        </p:nvCxnSpPr>
        <p:spPr>
          <a:xfrm>
            <a:off x="517228" y="6497638"/>
            <a:ext cx="8828258" cy="0"/>
          </a:xfrm>
          <a:prstGeom prst="line">
            <a:avLst/>
          </a:prstGeom>
          <a:ln w="9525">
            <a:solidFill>
              <a:srgbClr val="3B51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25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86971513-9ECD-483D-226F-59750CF8759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AE590D58-9225-4F19-A10F-148441322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551613"/>
            <a:ext cx="1335088" cy="1920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altLang="en-US" sz="650" i="1" dirty="0">
                <a:solidFill>
                  <a:srgbClr val="253356"/>
                </a:solidFill>
                <a:latin typeface="Trebuchet MS" panose="020B0603020202020204" pitchFamily="34" charset="0"/>
              </a:rPr>
              <a:t>Strictly Private &amp; Confidential</a:t>
            </a:r>
          </a:p>
        </p:txBody>
      </p:sp>
      <p:sp>
        <p:nvSpPr>
          <p:cNvPr id="6" name="Picture 8">
            <a:extLst>
              <a:ext uri="{FF2B5EF4-FFF2-40B4-BE49-F238E27FC236}">
                <a16:creationId xmlns:a16="http://schemas.microsoft.com/office/drawing/2014/main" id="{7AC1C902-79E6-4D34-A424-16DAB0158C1F}"/>
              </a:ext>
            </a:extLst>
          </p:cNvPr>
          <p:cNvSpPr>
            <a:spLocks noChangeAspect="1"/>
          </p:cNvSpPr>
          <p:nvPr/>
        </p:nvSpPr>
        <p:spPr bwMode="auto">
          <a:xfrm>
            <a:off x="9388475" y="147638"/>
            <a:ext cx="3079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A15F40-F226-45C2-83C8-84002D6B14A4}"/>
              </a:ext>
            </a:extLst>
          </p:cNvPr>
          <p:cNvCxnSpPr>
            <a:cxnSpLocks/>
          </p:cNvCxnSpPr>
          <p:nvPr/>
        </p:nvCxnSpPr>
        <p:spPr>
          <a:xfrm>
            <a:off x="517525" y="1038225"/>
            <a:ext cx="8828088" cy="0"/>
          </a:xfrm>
          <a:prstGeom prst="line">
            <a:avLst/>
          </a:prstGeom>
          <a:ln w="38100">
            <a:solidFill>
              <a:srgbClr val="3B51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F43E4A-2FC3-4795-A176-44B6F86F430E}"/>
              </a:ext>
            </a:extLst>
          </p:cNvPr>
          <p:cNvCxnSpPr>
            <a:cxnSpLocks/>
          </p:cNvCxnSpPr>
          <p:nvPr/>
        </p:nvCxnSpPr>
        <p:spPr>
          <a:xfrm>
            <a:off x="517525" y="6497638"/>
            <a:ext cx="8828088" cy="0"/>
          </a:xfrm>
          <a:prstGeom prst="line">
            <a:avLst/>
          </a:prstGeom>
          <a:ln w="9525">
            <a:solidFill>
              <a:srgbClr val="3B51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517228" y="6310312"/>
            <a:ext cx="8707735" cy="178572"/>
          </a:xfrm>
        </p:spPr>
        <p:txBody>
          <a:bodyPr lIns="0"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650" i="1">
                <a:solidFill>
                  <a:srgbClr val="253356"/>
                </a:solidFill>
              </a:defRPr>
            </a:lvl1pPr>
            <a:lvl2pPr>
              <a:defRPr sz="1300">
                <a:solidFill>
                  <a:srgbClr val="253356"/>
                </a:solidFill>
              </a:defRPr>
            </a:lvl2pPr>
            <a:lvl3pPr>
              <a:defRPr sz="1138">
                <a:solidFill>
                  <a:srgbClr val="253356"/>
                </a:solidFill>
              </a:defRPr>
            </a:lvl3pPr>
            <a:lvl4pPr>
              <a:defRPr sz="975">
                <a:solidFill>
                  <a:srgbClr val="253356"/>
                </a:solidFill>
              </a:defRPr>
            </a:lvl4pPr>
            <a:lvl5pPr>
              <a:defRPr sz="975">
                <a:solidFill>
                  <a:srgbClr val="25335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</p:spPr>
        <p:txBody>
          <a:bodyPr lIns="0">
            <a:normAutofit/>
          </a:bodyPr>
          <a:lstStyle>
            <a:lvl1pPr>
              <a:defRPr lang="en-GB" sz="1950" kern="12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F5D7A60-F9CE-4F6D-BB7E-DBB86F62E69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A7CC3-5066-44E9-B8E7-626574CAF9CC}" type="datetime1">
              <a:rPr lang="en-GB"/>
              <a:pPr>
                <a:defRPr/>
              </a:pPr>
              <a:t>26/08/2026</a:t>
            </a:fld>
            <a:endParaRPr lang="en-GB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2BAF473-789B-4B4B-9D9D-6776FC24A5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B105498-2E05-4C1D-9CC0-3ABF7B4485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443788" y="6426200"/>
            <a:ext cx="1984375" cy="365125"/>
          </a:xfrm>
        </p:spPr>
        <p:txBody>
          <a:bodyPr/>
          <a:lstStyle>
            <a:lvl1pPr algn="r">
              <a:defRPr sz="975" smtClean="0">
                <a:solidFill>
                  <a:srgbClr val="253356"/>
                </a:solidFill>
              </a:defRPr>
            </a:lvl1pPr>
          </a:lstStyle>
          <a:p>
            <a:pPr>
              <a:defRPr/>
            </a:pPr>
            <a:fld id="{24BF7EA9-4092-4DC6-AA48-6247D5C2C83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6C1B8-7AE5-5F32-E30C-2364C2A036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772" y="147216"/>
            <a:ext cx="306984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41538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5"/>
              <a:buFont typeface="Trebuchet MS"/>
              <a:buNone/>
              <a:defRPr sz="3575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chemeClr val="dk1"/>
              </a:buClr>
              <a:buSzPts val="2275"/>
              <a:buFont typeface="Arial"/>
              <a:buChar char="•"/>
              <a:defRPr sz="2275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215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75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 dirty="0"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75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 dirty="0"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7270700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sz="975" b="0" i="0" u="none" strike="noStrike" cap="none">
                <a:solidFill>
                  <a:srgbClr val="243357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16B01FF7-0E78-87B1-A021-8A4B5E90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>
            <a:extLst>
              <a:ext uri="{FF2B5EF4-FFF2-40B4-BE49-F238E27FC236}">
                <a16:creationId xmlns:a16="http://schemas.microsoft.com/office/drawing/2014/main" id="{CE08D3B1-231A-1766-7861-938C4EEF78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228" y="365126"/>
            <a:ext cx="8828258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3356"/>
              </a:buClr>
              <a:buSzPts val="1900"/>
              <a:buFont typeface="Trebuchet MS"/>
              <a:buNone/>
            </a:pPr>
            <a:r>
              <a:rPr dirty="0">
                <a:latin typeface="Trebuchet MS"/>
              </a:rPr>
              <a:t>4. </a:t>
            </a:r>
            <a:r>
              <a:rPr lang="en-GB" dirty="0">
                <a:latin typeface="Trebuchet MS"/>
              </a:rPr>
              <a:t>Deal Origination Platform</a:t>
            </a:r>
            <a:endParaRPr dirty="0"/>
          </a:p>
        </p:txBody>
      </p:sp>
      <p:sp>
        <p:nvSpPr>
          <p:cNvPr id="322" name="Google Shape;322;p46">
            <a:extLst>
              <a:ext uri="{FF2B5EF4-FFF2-40B4-BE49-F238E27FC236}">
                <a16:creationId xmlns:a16="http://schemas.microsoft.com/office/drawing/2014/main" id="{79D0116F-090D-3084-E9AD-5B3E95DD1B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43216" y="6426151"/>
            <a:ext cx="198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13</a:t>
            </a:fld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54F52-DDC0-A2CB-39C1-96EC913EA6CE}"/>
              </a:ext>
            </a:extLst>
          </p:cNvPr>
          <p:cNvSpPr/>
          <p:nvPr/>
        </p:nvSpPr>
        <p:spPr>
          <a:xfrm>
            <a:off x="8537171" y="357670"/>
            <a:ext cx="544030" cy="290089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0000"/>
                </a:solidFill>
              </a:rPr>
              <a:t>IR</a:t>
            </a:r>
          </a:p>
        </p:txBody>
      </p:sp>
      <p:pic>
        <p:nvPicPr>
          <p:cNvPr id="323" name="Picture 322" descr="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060704"/>
            <a:ext cx="3401568" cy="2790507"/>
          </a:xfrm>
          <a:prstGeom prst="rect">
            <a:avLst/>
          </a:prstGeom>
          <a:ln w="12700">
            <a:solidFill>
              <a:srgbClr val="C5D3E3"/>
            </a:solidFill>
          </a:ln>
        </p:spPr>
      </p:pic>
      <p:sp>
        <p:nvSpPr>
          <p:cNvPr id="324" name="TextBox 323"/>
          <p:cNvSpPr txBox="1"/>
          <p:nvPr/>
        </p:nvSpPr>
        <p:spPr>
          <a:xfrm>
            <a:off x="502920" y="3896931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The live pipeline: every card carries the company's financials, fit score and its next outreach action.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069080" y="1060704"/>
            <a:ext cx="5349240" cy="3310128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500"/>
              </a:spcAft>
            </a:pPr>
            <a:r>
              <a:rPr sz="1000" b="1" i="0" u="sng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Deal origination platform</a:t>
            </a:r>
          </a:p>
          <a:p>
            <a:pPr algn="l" indent="-100000" marL="100000">
              <a:spcAft>
                <a:spcPts val="400"/>
              </a:spcAft>
              <a:buChar char="•"/>
            </a:pPr>
            <a:r>
              <a:rPr sz="900" b="0" i="0">
                <a:solidFill>
                  <a:srgbClr val="262626"/>
                </a:solidFill>
                <a:latin typeface="Trebuchet MS"/>
                <a:ea typeface="Trebuchet MS"/>
                <a:cs typeface="Trebuchet MS"/>
              </a:rPr>
              <a:t>We have developed an in-house AI platform, AverroesIntel, whose core is a deal origination pipeline. It ingests companies from multiple sources (PitchBook, Inven, Gain, tech conferences), enriches each with Companies House financials, and scores them against Averroes' investment criteria.</a:t>
            </a:r>
          </a:p>
          <a:p>
            <a:pPr algn="l" indent="-100000" marL="100000">
              <a:spcAft>
                <a:spcPts val="400"/>
              </a:spcAft>
              <a:buChar char="•"/>
            </a:pPr>
            <a:r>
              <a:rPr sz="900" b="0" i="0">
                <a:solidFill>
                  <a:srgbClr val="262626"/>
                </a:solidFill>
                <a:latin typeface="Trebuchet MS"/>
                <a:ea typeface="Trebuchet MS"/>
                <a:cs typeface="Trebuchet MS"/>
              </a:rPr>
              <a:t>Outreach is automated end to end: the platform finds the right founder's email address, drafts a personalised, human-sounding email, sends it from a dedicated mailbox in Bea's name, and follows up automatically - keeping all outreach contained and easy to monitor.</a:t>
            </a:r>
          </a:p>
          <a:p>
            <a:pPr algn="l" indent="-100000" marL="100000">
              <a:spcAft>
                <a:spcPts val="400"/>
              </a:spcAft>
              <a:buChar char="•"/>
            </a:pPr>
            <a:r>
              <a:rPr sz="900" b="0" i="0">
                <a:solidFill>
                  <a:srgbClr val="262626"/>
                </a:solidFill>
                <a:latin typeface="Trebuchet MS"/>
                <a:ea typeface="Trebuchet MS"/>
                <a:cs typeface="Trebuchet MS"/>
              </a:rPr>
              <a:t>Every reply is classified by AI, and autoresponders or bounced emails never count as a response, so the numbers below are honest. Genuine conversations enter a manual phase, nurtured by Bea, Issam and Marianna towards a first call.</a:t>
            </a:r>
          </a:p>
          <a:p>
            <a:pPr algn="l" indent="-100000" marL="100000">
              <a:spcAft>
                <a:spcPts val="800"/>
              </a:spcAft>
              <a:buChar char="•"/>
            </a:pPr>
            <a:r>
              <a:rPr sz="900" b="0" i="0">
                <a:solidFill>
                  <a:srgbClr val="262626"/>
                </a:solidFill>
                <a:latin typeface="Trebuchet MS"/>
                <a:ea typeface="Trebuchet MS"/>
                <a:cs typeface="Trebuchet MS"/>
              </a:rPr>
              <a:t>The result is a 17.5% response rate on cold outreach (typically under 1%), at ~£4/day in AI cost - intermediary-quality deal flow without the intermediary.</a:t>
            </a:r>
          </a:p>
          <a:p>
            <a:pPr algn="l">
              <a:spcAft>
                <a:spcPts val="400"/>
              </a:spcAft>
            </a:pPr>
            <a:r>
              <a:rPr sz="1000" b="1" i="0" u="sng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Portfolio Intelligence Platform</a:t>
            </a:r>
          </a:p>
          <a:p>
            <a:pPr algn="l" indent="-100000" marL="100000">
              <a:spcAft>
                <a:spcPts val="0"/>
              </a:spcAft>
              <a:buChar char="•"/>
            </a:pPr>
            <a:r>
              <a:rPr sz="900" b="0" i="0">
                <a:solidFill>
                  <a:srgbClr val="262626"/>
                </a:solidFill>
                <a:latin typeface="Trebuchet MS"/>
                <a:ea typeface="Trebuchet MS"/>
                <a:cs typeface="Trebuchet MS"/>
              </a:rPr>
              <a:t>Built, then paused following the Glow acquisition. Current focus is a centralised data warehouse for Glow and Averroes, modelled on Journey, to create a single source of KPI data. More detail next quarter.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502920" y="4626864"/>
            <a:ext cx="2167128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bIns="27432"/>
          <a:lstStyle/>
          <a:p>
            <a:pPr algn="l">
              <a:spcAft>
                <a:spcPts val="100"/>
              </a:spcAft>
            </a:pPr>
            <a:r>
              <a:rPr sz="650" b="1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COMPANIES STORED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12,807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sourced into the universe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2811780" y="4626864"/>
            <a:ext cx="2167128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bIns="27432"/>
          <a:lstStyle/>
          <a:p>
            <a:pPr algn="l">
              <a:spcAft>
                <a:spcPts val="100"/>
              </a:spcAft>
            </a:pPr>
            <a:r>
              <a:rPr sz="650" b="1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COMPANIES EMAILED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143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first outreach ever sent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5120640" y="4626864"/>
            <a:ext cx="2167128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bIns="27432"/>
          <a:lstStyle/>
          <a:p>
            <a:pPr algn="l">
              <a:spcAft>
                <a:spcPts val="100"/>
              </a:spcAft>
            </a:pPr>
            <a:r>
              <a:rPr sz="650" b="1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COMPANIES REPLIED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25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at least one genuine reply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7429500" y="4626864"/>
            <a:ext cx="2167128" cy="713232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bIns="27432"/>
          <a:lstStyle/>
          <a:p>
            <a:pPr algn="l">
              <a:spcAft>
                <a:spcPts val="100"/>
              </a:spcAft>
            </a:pPr>
            <a:r>
              <a:rPr sz="650" b="1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RESPONSE RATE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17.5%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replied ever / emailed ever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50292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1,566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Qualified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673352" y="5532120"/>
            <a:ext cx="46177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05A1A"/>
                </a:solidFill>
                <a:latin typeface="Trebuchet MS"/>
                <a:ea typeface="Trebuchet MS"/>
                <a:cs typeface="Trebuchet MS"/>
              </a:rPr>
              <a:t>9.1%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→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208026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143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Contacted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250692" y="5532120"/>
            <a:ext cx="46177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05A1A"/>
                </a:solidFill>
                <a:latin typeface="Trebuchet MS"/>
                <a:ea typeface="Trebuchet MS"/>
                <a:cs typeface="Trebuchet MS"/>
              </a:rPr>
              <a:t>17.5%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→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365760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25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Responded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4828032" y="5532120"/>
            <a:ext cx="46177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05A1A"/>
                </a:solidFill>
                <a:latin typeface="Trebuchet MS"/>
                <a:ea typeface="Trebuchet MS"/>
                <a:cs typeface="Trebuchet MS"/>
              </a:rPr>
              <a:t>12.0%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→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523494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Meeting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6405372" y="5532120"/>
            <a:ext cx="46177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05A1A"/>
                </a:solidFill>
                <a:latin typeface="Trebuchet MS"/>
                <a:ea typeface="Trebuchet MS"/>
                <a:cs typeface="Trebuchet MS"/>
              </a:rPr>
              <a:t>33.3%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→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681228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DD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7982712" y="5532120"/>
            <a:ext cx="46177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05A1A"/>
                </a:solidFill>
                <a:latin typeface="Trebuchet MS"/>
                <a:ea typeface="Trebuchet MS"/>
                <a:cs typeface="Trebuchet MS"/>
              </a:rPr>
              <a:t>100%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→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8389620" y="5504688"/>
            <a:ext cx="122529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18288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rebuchet MS"/>
                <a:ea typeface="Trebuchet MS"/>
                <a:cs typeface="Trebuchet MS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Offer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02920" y="61722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1">
                <a:solidFill>
                  <a:srgbClr val="646E7B"/>
                </a:solidFill>
                <a:latin typeface="Trebuchet MS"/>
                <a:ea typeface="Trebuchet MS"/>
                <a:cs typeface="Trebuchet MS"/>
              </a:rPr>
              <a:t>Live from the platform's analytics, 26 Aug 2026. Cumulative - companies that have ever reached each stage; percentages are conversion from the previous stage.</a:t>
            </a:r>
          </a:p>
        </p:txBody>
      </p:sp>
    </p:spTree>
    <p:extLst>
      <p:ext uri="{BB962C8B-B14F-4D97-AF65-F5344CB8AC3E}">
        <p14:creationId xmlns:p14="http://schemas.microsoft.com/office/powerpoint/2010/main" val="3073566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Averroes Theme vf">
  <a:themeElements>
    <a:clrScheme name="Averroes Capital Main Theme">
      <a:dk1>
        <a:srgbClr val="FFFFFF"/>
      </a:dk1>
      <a:lt1>
        <a:srgbClr val="243357"/>
      </a:lt1>
      <a:dk2>
        <a:srgbClr val="FFFFFF"/>
      </a:dk2>
      <a:lt2>
        <a:srgbClr val="24334C"/>
      </a:lt2>
      <a:accent1>
        <a:srgbClr val="8EA2BB"/>
      </a:accent1>
      <a:accent2>
        <a:srgbClr val="44546A"/>
      </a:accent2>
      <a:accent3>
        <a:srgbClr val="8496B0"/>
      </a:accent3>
      <a:accent4>
        <a:srgbClr val="D6DCE4"/>
      </a:accent4>
      <a:accent5>
        <a:srgbClr val="5B9BD5"/>
      </a:accent5>
      <a:accent6>
        <a:srgbClr val="C2DFFD"/>
      </a:accent6>
      <a:hlink>
        <a:srgbClr val="4472C4"/>
      </a:hlink>
      <a:folHlink>
        <a:srgbClr val="8496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64231E-AF71-8D45-A2AF-FE684683C6B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94054bf-02e0-4bf8-9b38-a899bc69845e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Props1.xml><?xml version="1.0" encoding="utf-8"?>
<ds:datastoreItem xmlns:ds="http://schemas.openxmlformats.org/officeDocument/2006/customXml" ds:itemID="{4076DDAC-1332-40B1-B0B6-644A96C058FC}">
  <ds:schemaRefs>
    <ds:schemaRef ds:uri="http://www.w3.org/2001/XMLSchema"/>
    <ds:schemaRef ds:uri="pb-wrapper"/>
  </ds:schemaRefs>
</ds:datastoreItem>
</file>

<file path=customXml/itemProps2.xml><?xml version="1.0" encoding="utf-8"?>
<ds:datastoreItem xmlns:ds="http://schemas.openxmlformats.org/officeDocument/2006/customXml" ds:itemID="{9AFFE561-B6EB-4666-B4B0-1A10B97AF242}">
  <ds:schemaRefs>
    <ds:schemaRef ds:uri="http://www.w3.org/2001/XMLSchema"/>
    <ds:schemaRef ds:uri="pb-wrapper"/>
  </ds:schemaRefs>
</ds:datastoreItem>
</file>

<file path=customXml/itemProps3.xml><?xml version="1.0" encoding="utf-8"?>
<ds:datastoreItem xmlns:ds="http://schemas.openxmlformats.org/officeDocument/2006/customXml" ds:itemID="{20063D7B-46E0-4E8D-AA0B-5B39689CDD7F}">
  <ds:schemaRefs>
    <ds:schemaRef ds:uri="http://www.w3.org/2001/XMLSchema"/>
    <ds:schemaRef ds:uri="pb-wrapper"/>
  </ds:schemaRefs>
</ds:datastoreItem>
</file>

<file path=customXml/itemProps4.xml><?xml version="1.0" encoding="utf-8"?>
<ds:datastoreItem xmlns:ds="http://schemas.openxmlformats.org/officeDocument/2006/customXml" ds:itemID="{A41832D3-3DAC-4EBB-A545-F975A7A3B54B}">
  <ds:schemaRefs>
    <ds:schemaRef ds:uri="http://www.w3.org/2001/XMLSchema"/>
    <ds:schemaRef ds:uri="pb-wrapper"/>
  </ds:schemaRefs>
</ds:datastoreItem>
</file>

<file path=customXml/itemProps5.xml><?xml version="1.0" encoding="utf-8"?>
<ds:datastoreItem xmlns:ds="http://schemas.openxmlformats.org/officeDocument/2006/customXml" ds:itemID="{B0789106-F03D-4670-82E2-99850C5D7253}">
  <ds:schemaRefs>
    <ds:schemaRef ds:uri="http://www.w3.org/2001/XMLSchema"/>
    <ds:schemaRef ds:uri="pb-wrapper"/>
  </ds:schemaRefs>
</ds:datastoreItem>
</file>

<file path=customXml/itemProps6.xml><?xml version="1.0" encoding="utf-8"?>
<ds:datastoreItem xmlns:ds="http://schemas.openxmlformats.org/officeDocument/2006/customXml" ds:itemID="{8670F2AE-4181-40CB-87CD-D83991BAFFDC}">
  <ds:schemaRefs>
    <ds:schemaRef ds:uri="http://www.w3.org/2001/XMLSchema"/>
    <ds:schemaRef ds:uri="pb-wrapper"/>
  </ds:schemaRefs>
</ds:datastoreItem>
</file>

<file path=customXml/itemProps7.xml><?xml version="1.0" encoding="utf-8"?>
<ds:datastoreItem xmlns:ds="http://schemas.openxmlformats.org/officeDocument/2006/customXml" ds:itemID="{F6AB3712-AC67-401F-8157-CAF44740D5D8}">
  <ds:schemaRefs>
    <ds:schemaRef ds:uri="http://www.w3.org/2001/XMLSchema"/>
    <ds:schemaRef ds:uri="pb-wrapper"/>
  </ds:schemaRefs>
</ds:datastoreItem>
</file>

<file path=customXml/itemProps8.xml><?xml version="1.0" encoding="utf-8"?>
<ds:datastoreItem xmlns:ds="http://schemas.openxmlformats.org/officeDocument/2006/customXml" ds:itemID="{3572BAFD-C3C3-46F4-9D9A-9316D1F163D2}">
  <ds:schemaRefs>
    <ds:schemaRef ds:uri="http://www.w3.org/2001/XMLSchema"/>
    <ds:schemaRef ds:uri="pb-wrapper"/>
  </ds:schemaRefs>
</ds:datastoreItem>
</file>

<file path=customXml/itemProps9.xml><?xml version="1.0" encoding="utf-8"?>
<ds:datastoreItem xmlns:ds="http://schemas.openxmlformats.org/officeDocument/2006/customXml" ds:itemID="{EA869B52-761C-42F9-8886-A0BD8423BC69}">
  <ds:schemaRefs>
    <ds:schemaRef ds:uri="http://www.w3.org/2001/XMLSchema"/>
    <ds:schemaRef ds:uri="pb-wrapper"/>
  </ds:schemaRefs>
</ds:datastoreItem>
</file>

<file path=customXml/itemProps10.xml><?xml version="1.0" encoding="utf-8"?>
<ds:datastoreItem xmlns:ds="http://schemas.openxmlformats.org/officeDocument/2006/customXml" ds:itemID="{3562CACC-9428-6842-9B09-7535A432111D}">
  <ds:schemaRefs>
    <ds:schemaRef ds:uri="http://www.w3.org/2001/XMLSchema"/>
    <ds:schemaRef ds:uri="pb-wrapper"/>
  </ds:schemaRefs>
</ds:datastoreItem>
</file>

<file path=customXml/itemProps11.xml><?xml version="1.0" encoding="utf-8"?>
<ds:datastoreItem xmlns:ds="http://schemas.openxmlformats.org/officeDocument/2006/customXml" ds:itemID="{73993F76-7FCA-4C46-A22E-B35B3F3F8980}">
  <ds:schemaRefs>
    <ds:schemaRef ds:uri="http://www.w3.org/2001/XMLSchema"/>
    <ds:schemaRef ds:uri="pb-wrapper"/>
  </ds:schemaRefs>
</ds:datastoreItem>
</file>

<file path=customXml/itemProps12.xml><?xml version="1.0" encoding="utf-8"?>
<ds:datastoreItem xmlns:ds="http://schemas.openxmlformats.org/officeDocument/2006/customXml" ds:itemID="{F5DB98C2-91F1-4028-A101-17EB87A98FAD}">
  <ds:schemaRefs>
    <ds:schemaRef ds:uri="http://www.w3.org/2001/XMLSchema"/>
    <ds:schemaRef ds:uri="pb-wrapper"/>
  </ds:schemaRefs>
</ds:datastoreItem>
</file>

<file path=customXml/itemProps13.xml><?xml version="1.0" encoding="utf-8"?>
<ds:datastoreItem xmlns:ds="http://schemas.openxmlformats.org/officeDocument/2006/customXml" ds:itemID="{E8ECAB44-A3C7-2B4E-8BD0-276B55465DF1}">
  <ds:schemaRefs>
    <ds:schemaRef ds:uri="http://www.w3.org/2001/XMLSchema"/>
    <ds:schemaRef ds:uri="pb-wrapper"/>
  </ds:schemaRefs>
</ds:datastoreItem>
</file>

<file path=customXml/itemProps14.xml><?xml version="1.0" encoding="utf-8"?>
<ds:datastoreItem xmlns:ds="http://schemas.openxmlformats.org/officeDocument/2006/customXml" ds:itemID="{57FD88BF-3B8F-41B9-853E-25DCB4A26A6D}">
  <ds:schemaRefs>
    <ds:schemaRef ds:uri="http://www.w3.org/2001/XMLSchema"/>
    <ds:schemaRef ds:uri="pb-wrapper"/>
  </ds:schemaRefs>
</ds:datastoreItem>
</file>

<file path=customXml/itemProps15.xml><?xml version="1.0" encoding="utf-8"?>
<ds:datastoreItem xmlns:ds="http://schemas.openxmlformats.org/officeDocument/2006/customXml" ds:itemID="{D0C268B8-52E5-4C6F-81C5-C0D342936CE7}">
  <ds:schemaRefs>
    <ds:schemaRef ds:uri="http://www.w3.org/2001/XMLSchema"/>
    <ds:schemaRef ds:uri="pb-wrapper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4999</Words>
  <Application>Microsoft Macintosh PowerPoint</Application>
  <PresentationFormat>A4 Paper (210x297 mm)</PresentationFormat>
  <Paragraphs>773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Courier New</vt:lpstr>
      <vt:lpstr>Lato Black</vt:lpstr>
      <vt:lpstr>Lato Medium</vt:lpstr>
      <vt:lpstr>Noto Sans Symbols</vt:lpstr>
      <vt:lpstr>Trebuchet MS</vt:lpstr>
      <vt:lpstr>Wingdings</vt:lpstr>
      <vt:lpstr>Averroes Theme vf</vt:lpstr>
      <vt:lpstr>Averroes Capital Board Meeting</vt:lpstr>
      <vt:lpstr>PowerPoint Presentation</vt:lpstr>
      <vt:lpstr>1. Journey – Group P&amp;L and performance against budget (May 2026)</vt:lpstr>
      <vt:lpstr>1. Journey – Revenues by business line (July 2026)</vt:lpstr>
      <vt:lpstr>1. Journey – Annual Recurring Revenue (ARR) Analysis</vt:lpstr>
      <vt:lpstr>1. Journey – Direct Contribution Analysis (July 2026) </vt:lpstr>
      <vt:lpstr>2. Glacier - Group P&amp;L and performance against budget (May-26)</vt:lpstr>
      <vt:lpstr>2. Glacier - Mechanical Solutions Order Book</vt:lpstr>
      <vt:lpstr>2. Glacier - Testing and Inspection Order Book (data through Nov-25)</vt:lpstr>
      <vt:lpstr>3. Glow – Users</vt:lpstr>
      <vt:lpstr>3. Glow – MRR and Net Sales</vt:lpstr>
      <vt:lpstr>3. Glow – Progress Highlights</vt:lpstr>
      <vt:lpstr>4. Deal Origination Platform</vt:lpstr>
      <vt:lpstr>6. Prospective deal pipeline for 2026 (1 of 2)</vt:lpstr>
      <vt:lpstr>8. AC Holding Structure</vt:lpstr>
      <vt:lpstr>9. HR/compensation</vt:lpstr>
      <vt:lpstr>10. July 2026 Financials (in £’000)</vt:lpstr>
      <vt:lpstr>11. Rushd projects update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Raul Francisco Jacob Camaiora</dc:creator>
  <cp:lastModifiedBy>Dan Walker</cp:lastModifiedBy>
  <cp:revision>586</cp:revision>
  <dcterms:created xsi:type="dcterms:W3CDTF">2022-07-01T08:24:20Z</dcterms:created>
  <dcterms:modified xsi:type="dcterms:W3CDTF">2026-08-26T16:58:13Z</dcterms:modified>
</cp:coreProperties>
</file>